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Hei! Jeg skal snakke om matte på tivoli.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kommer tivoli til byen. Eieren har sagt at jeg får gratis inngang hvis jeg kan vise at det er mye matte på et tivolibesøk.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kommer tivoli til byen. Eieren har sagt at jeg får gratis inngang hvis jeg kan vise at det er mye matte på et tivolibesøk. Mange tenker at tivoli bare er gøy, men det er faktisk matte overalt. Jeg skal snakke om prisene, lykkehjulet og pariserhjulet.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Lykkehjulet har 12 felt. Det er 4 farger: rød, blå, gul og grønn. Hver farge har 3 felt, og alle feltene er like store.
For å finne sannsynligheten tar jeg antall gunstige utfall og deler på antall mulige utfall.
Hvis jeg vil ha rød, er det 3 felt som er røde. Det er de gunstige utfallene.
Hjulet har 12 felt til sammen. Det er de mulige utfallene.
Da blir sjansen for rød 3 av 12. Det er det samme som 1 av 4, altså 25 prosent.
Alle fargene har 3 felt, så det er like stor sjanse for alle fargene.
Sjansen for å ikke få rød er 9 av 12. Det er det samme som 3 av 4, altså 75 prosent.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Pariserhjulet er rundt som en sirkel som går rundt
Radius er fra midten av hjulet og ut til kanten. Det er halvparten av 50, altså 25 meter.
En runde er 3,14 ganger 50 så det blir 157 meter På en runde.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Arket sier ikke når tivoliet stenger, så jeg har valgt det selv. På hverdager stenger det klokka 21, og i helgen stenger det klokka 22.
På hverdager åpner det klokka 17. Fra 17 til 21 er det 4 timer.
På lørdag åpner det klokka 12. Fra 12 til 22 er det 10 timer.
På søndag åpner det klokka 13. Fra 13 til 22 er det 9 timer.
Det er 5 hverdager, så jeg ganger 4 timer med 5. Det blir 20 timer. Så legger jeg til lørdag og søndag. 20 pluss 10 pluss 9 blir 39 timer.
Tivoliet er åpent 39 timer i uka.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vanlig billett koster 45 kroner.
Et rabatthefte har 7 billetter og koster 260 kroner.
Hvis jeg deler 260 på 7, blir det ca. 37 kroner per billett. Det er billigere enn en vanlig billett.
Kjøper jeg 7 vanlige billetter, koster det 7 ganger 45, som er 315 kroner.
Med heftet sparer jeg 315 minus 260, altså 55 kroner.
Heftet lønner seg hvis man skal ta 6 turer eller 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ork">
    <p:bg>
      <p:bgPr>
        <a:solidFill>
          <a:srgbClr val="1B134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097280"/>
          </a:xfrm>
          <a:prstGeom prst="rect">
            <a:avLst/>
          </a:prstGeom>
          <a:noFill/>
          <a:ln/>
        </p:spPr>
        <p:txBody>
          <a:bodyPr wrap="square" rtlCol="0"/>
          <a:lstStyle>
            <a:lvl1pPr algn="ctr" indent="0" marL="0">
              <a:buNone/>
              <a:defRPr lang="en-US" sz="5400" b="1" dirty="0">
                <a:solidFill>
                  <a:schemeClr val="bg1"/>
                </a:solidFill>
              </a:defRPr>
            </a:lvl1pPr>
          </a:lstStyle>
          <a:p>
            <a:pPr algn="ctr"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ys">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097280"/>
          </a:xfrm>
          <a:prstGeom prst="rect">
            <a:avLst/>
          </a:prstGeom>
          <a:noFill/>
          <a:ln/>
        </p:spPr>
        <p:txBody>
          <a:bodyPr wrap="square" rtlCol="0" anchor="ctr"/>
          <a:lstStyle/>
          <a:p>
            <a:pPr algn="ctr" indent="0" marL="0">
              <a:buNone/>
            </a:pPr>
            <a:r>
              <a:rPr lang="en-US" sz="5400" b="1" dirty="0">
                <a:solidFill>
                  <a:schemeClr val="bg1"/>
                </a:solidFill>
              </a:rPr>
              <a:t>Matematikk</a:t>
            </a:r>
            <a:endParaRPr lang="en-US" sz="5400" dirty="0"/>
          </a:p>
        </p:txBody>
      </p:sp>
      <p:sp>
        <p:nvSpPr>
          <p:cNvPr id="3" name="Lys 1"/>
          <p:cNvSpPr/>
          <p:nvPr/>
        </p:nvSpPr>
        <p:spPr>
          <a:xfrm>
            <a:off x="548640" y="4023360"/>
            <a:ext cx="128016" cy="128016"/>
          </a:xfrm>
          <a:prstGeom prst="ellipse">
            <a:avLst/>
          </a:prstGeom>
          <a:solidFill>
            <a:srgbClr val="E63946"/>
          </a:solidFill>
          <a:ln/>
        </p:spPr>
      </p:sp>
      <p:sp>
        <p:nvSpPr>
          <p:cNvPr id="4" name="Lys 2"/>
          <p:cNvSpPr/>
          <p:nvPr/>
        </p:nvSpPr>
        <p:spPr>
          <a:xfrm>
            <a:off x="1005840" y="4023360"/>
            <a:ext cx="128016" cy="128016"/>
          </a:xfrm>
          <a:prstGeom prst="ellipse">
            <a:avLst/>
          </a:prstGeom>
          <a:solidFill>
            <a:srgbClr val="F4B400"/>
          </a:solidFill>
          <a:ln/>
        </p:spPr>
      </p:sp>
      <p:sp>
        <p:nvSpPr>
          <p:cNvPr id="5" name="Lys 3"/>
          <p:cNvSpPr/>
          <p:nvPr/>
        </p:nvSpPr>
        <p:spPr>
          <a:xfrm>
            <a:off x="1463040" y="4023360"/>
            <a:ext cx="128016" cy="128016"/>
          </a:xfrm>
          <a:prstGeom prst="ellipse">
            <a:avLst/>
          </a:prstGeom>
          <a:solidFill>
            <a:srgbClr val="2A9D8F"/>
          </a:solidFill>
          <a:ln/>
        </p:spPr>
      </p:sp>
      <p:sp>
        <p:nvSpPr>
          <p:cNvPr id="6" name="Lys 4"/>
          <p:cNvSpPr/>
          <p:nvPr/>
        </p:nvSpPr>
        <p:spPr>
          <a:xfrm>
            <a:off x="1920240" y="4023360"/>
            <a:ext cx="128016" cy="128016"/>
          </a:xfrm>
          <a:prstGeom prst="ellipse">
            <a:avLst/>
          </a:prstGeom>
          <a:solidFill>
            <a:srgbClr val="3A6EA5"/>
          </a:solidFill>
          <a:ln/>
        </p:spPr>
      </p:sp>
      <p:sp>
        <p:nvSpPr>
          <p:cNvPr id="7" name="Lys 5"/>
          <p:cNvSpPr/>
          <p:nvPr/>
        </p:nvSpPr>
        <p:spPr>
          <a:xfrm>
            <a:off x="2377440" y="4023360"/>
            <a:ext cx="128016" cy="128016"/>
          </a:xfrm>
          <a:prstGeom prst="ellipse">
            <a:avLst/>
          </a:prstGeom>
          <a:solidFill>
            <a:srgbClr val="8E44AD"/>
          </a:solidFill>
          <a:ln/>
        </p:spPr>
      </p:sp>
      <p:sp>
        <p:nvSpPr>
          <p:cNvPr id="8" name="Lys 6"/>
          <p:cNvSpPr/>
          <p:nvPr/>
        </p:nvSpPr>
        <p:spPr>
          <a:xfrm>
            <a:off x="2834640" y="4023360"/>
            <a:ext cx="128016" cy="128016"/>
          </a:xfrm>
          <a:prstGeom prst="ellipse">
            <a:avLst/>
          </a:prstGeom>
          <a:solidFill>
            <a:srgbClr val="F77F00"/>
          </a:solidFill>
          <a:ln/>
        </p:spPr>
      </p:sp>
      <p:sp>
        <p:nvSpPr>
          <p:cNvPr id="9" name="Lys 7"/>
          <p:cNvSpPr/>
          <p:nvPr/>
        </p:nvSpPr>
        <p:spPr>
          <a:xfrm>
            <a:off x="3291840" y="4023360"/>
            <a:ext cx="128016" cy="128016"/>
          </a:xfrm>
          <a:prstGeom prst="ellipse">
            <a:avLst/>
          </a:prstGeom>
          <a:solidFill>
            <a:srgbClr val="E63946"/>
          </a:solidFill>
          <a:ln/>
        </p:spPr>
      </p:sp>
      <p:sp>
        <p:nvSpPr>
          <p:cNvPr id="10" name="Lys 8"/>
          <p:cNvSpPr/>
          <p:nvPr/>
        </p:nvSpPr>
        <p:spPr>
          <a:xfrm>
            <a:off x="3749040" y="4023360"/>
            <a:ext cx="128016" cy="128016"/>
          </a:xfrm>
          <a:prstGeom prst="ellipse">
            <a:avLst/>
          </a:prstGeom>
          <a:solidFill>
            <a:srgbClr val="F4B400"/>
          </a:solidFill>
          <a:ln/>
        </p:spPr>
      </p:sp>
      <p:sp>
        <p:nvSpPr>
          <p:cNvPr id="11" name="Lys 9"/>
          <p:cNvSpPr/>
          <p:nvPr/>
        </p:nvSpPr>
        <p:spPr>
          <a:xfrm>
            <a:off x="4206240" y="4023360"/>
            <a:ext cx="128016" cy="128016"/>
          </a:xfrm>
          <a:prstGeom prst="ellipse">
            <a:avLst/>
          </a:prstGeom>
          <a:solidFill>
            <a:srgbClr val="2A9D8F"/>
          </a:solidFill>
          <a:ln/>
        </p:spPr>
      </p:sp>
      <p:sp>
        <p:nvSpPr>
          <p:cNvPr id="12" name="Lys 10"/>
          <p:cNvSpPr/>
          <p:nvPr/>
        </p:nvSpPr>
        <p:spPr>
          <a:xfrm>
            <a:off x="4663440" y="4023360"/>
            <a:ext cx="128016" cy="128016"/>
          </a:xfrm>
          <a:prstGeom prst="ellipse">
            <a:avLst/>
          </a:prstGeom>
          <a:solidFill>
            <a:srgbClr val="3A6EA5"/>
          </a:solidFill>
          <a:ln/>
        </p:spPr>
      </p:sp>
      <p:sp>
        <p:nvSpPr>
          <p:cNvPr id="13" name="Lys 11"/>
          <p:cNvSpPr/>
          <p:nvPr/>
        </p:nvSpPr>
        <p:spPr>
          <a:xfrm>
            <a:off x="5120640" y="4023360"/>
            <a:ext cx="128016" cy="128016"/>
          </a:xfrm>
          <a:prstGeom prst="ellipse">
            <a:avLst/>
          </a:prstGeom>
          <a:solidFill>
            <a:srgbClr val="8E44AD"/>
          </a:solidFill>
          <a:ln/>
        </p:spPr>
      </p:sp>
      <p:sp>
        <p:nvSpPr>
          <p:cNvPr id="14" name="Lys 12"/>
          <p:cNvSpPr/>
          <p:nvPr/>
        </p:nvSpPr>
        <p:spPr>
          <a:xfrm>
            <a:off x="5577840" y="4023360"/>
            <a:ext cx="128016" cy="128016"/>
          </a:xfrm>
          <a:prstGeom prst="ellipse">
            <a:avLst/>
          </a:prstGeom>
          <a:solidFill>
            <a:srgbClr val="F77F00"/>
          </a:solidFill>
          <a:ln/>
        </p:spPr>
      </p:sp>
      <p:sp>
        <p:nvSpPr>
          <p:cNvPr id="15" name="Lys 13"/>
          <p:cNvSpPr/>
          <p:nvPr/>
        </p:nvSpPr>
        <p:spPr>
          <a:xfrm>
            <a:off x="6035040" y="4023360"/>
            <a:ext cx="128016" cy="128016"/>
          </a:xfrm>
          <a:prstGeom prst="ellipse">
            <a:avLst/>
          </a:prstGeom>
          <a:solidFill>
            <a:srgbClr val="E63946"/>
          </a:solidFill>
          <a:ln/>
        </p:spPr>
      </p:sp>
      <p:sp>
        <p:nvSpPr>
          <p:cNvPr id="16" name="Lys 14"/>
          <p:cNvSpPr/>
          <p:nvPr/>
        </p:nvSpPr>
        <p:spPr>
          <a:xfrm>
            <a:off x="6492240" y="4023360"/>
            <a:ext cx="128016" cy="128016"/>
          </a:xfrm>
          <a:prstGeom prst="ellipse">
            <a:avLst/>
          </a:prstGeom>
          <a:solidFill>
            <a:srgbClr val="F4B400"/>
          </a:solidFill>
          <a:ln/>
        </p:spPr>
      </p:sp>
      <p:sp>
        <p:nvSpPr>
          <p:cNvPr id="17" name="Lys 15"/>
          <p:cNvSpPr/>
          <p:nvPr/>
        </p:nvSpPr>
        <p:spPr>
          <a:xfrm>
            <a:off x="6949440" y="4023360"/>
            <a:ext cx="128016" cy="128016"/>
          </a:xfrm>
          <a:prstGeom prst="ellipse">
            <a:avLst/>
          </a:prstGeom>
          <a:solidFill>
            <a:srgbClr val="2A9D8F"/>
          </a:solidFill>
          <a:ln/>
        </p:spPr>
      </p:sp>
      <p:sp>
        <p:nvSpPr>
          <p:cNvPr id="18" name="Lys 16"/>
          <p:cNvSpPr/>
          <p:nvPr/>
        </p:nvSpPr>
        <p:spPr>
          <a:xfrm>
            <a:off x="7406640" y="4023360"/>
            <a:ext cx="128016" cy="128016"/>
          </a:xfrm>
          <a:prstGeom prst="ellipse">
            <a:avLst/>
          </a:prstGeom>
          <a:solidFill>
            <a:srgbClr val="3A6EA5"/>
          </a:solidFill>
          <a:ln/>
        </p:spPr>
      </p:sp>
      <p:sp>
        <p:nvSpPr>
          <p:cNvPr id="19" name="Lys 17"/>
          <p:cNvSpPr/>
          <p:nvPr/>
        </p:nvSpPr>
        <p:spPr>
          <a:xfrm>
            <a:off x="7863840" y="4023360"/>
            <a:ext cx="128016" cy="128016"/>
          </a:xfrm>
          <a:prstGeom prst="ellipse">
            <a:avLst/>
          </a:prstGeom>
          <a:solidFill>
            <a:srgbClr val="8E44AD"/>
          </a:solidFill>
          <a:ln/>
        </p:spPr>
      </p:sp>
      <p:sp>
        <p:nvSpPr>
          <p:cNvPr id="20" name="Lys 18"/>
          <p:cNvSpPr/>
          <p:nvPr/>
        </p:nvSpPr>
        <p:spPr>
          <a:xfrm>
            <a:off x="8321040" y="4023360"/>
            <a:ext cx="128016" cy="128016"/>
          </a:xfrm>
          <a:prstGeom prst="ellipse">
            <a:avLst/>
          </a:prstGeom>
          <a:solidFill>
            <a:srgbClr val="F77F0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tel"/>
          <p:cNvSpPr txBox="1"/>
          <p:nvPr/>
        </p:nvSpPr>
        <p:spPr>
          <a:xfrm>
            <a:off x="548640" y="914400"/>
            <a:ext cx="8046720" cy="822960"/>
          </a:xfrm>
          <a:prstGeom prst="rect">
            <a:avLst/>
          </a:prstGeom>
          <a:noFill/>
          <a:ln/>
        </p:spPr>
        <p:txBody>
          <a:bodyPr wrap="square" rtlCol="0" anchor="ctr"/>
          <a:lstStyle/>
          <a:p>
            <a:pPr algn="ctr" indent="0" marL="0">
              <a:buNone/>
            </a:pPr>
            <a:r>
              <a:rPr lang="en-US" sz="4000" b="1" dirty="0">
                <a:solidFill>
                  <a:srgbClr val="FFFFFF"/>
                </a:solidFill>
              </a:rPr>
              <a:t>Problemstilling</a:t>
            </a:r>
            <a:endParaRPr lang="en-US" sz="4000" dirty="0"/>
          </a:p>
        </p:txBody>
      </p:sp>
      <p:sp>
        <p:nvSpPr>
          <p:cNvPr id="3" name="Boks"/>
          <p:cNvSpPr/>
          <p:nvPr/>
        </p:nvSpPr>
        <p:spPr>
          <a:xfrm>
            <a:off x="1097280" y="2011680"/>
            <a:ext cx="6949440" cy="1463040"/>
          </a:xfrm>
          <a:prstGeom prst="roundRect">
            <a:avLst>
              <a:gd name="adj" fmla="val 12500"/>
            </a:avLst>
          </a:prstGeom>
          <a:solidFill>
            <a:srgbClr val="2A1F5C"/>
          </a:solidFill>
          <a:ln w="19050">
            <a:solidFill>
              <a:srgbClr val="F4B400"/>
            </a:solidFill>
            <a:prstDash val="solid"/>
          </a:ln>
        </p:spPr>
      </p:sp>
      <p:sp>
        <p:nvSpPr>
          <p:cNvPr id="4" name="Problemstilling"/>
          <p:cNvSpPr txBox="1"/>
          <p:nvPr/>
        </p:nvSpPr>
        <p:spPr>
          <a:xfrm>
            <a:off x="1371600" y="2103120"/>
            <a:ext cx="6400800" cy="1280160"/>
          </a:xfrm>
          <a:prstGeom prst="rect">
            <a:avLst/>
          </a:prstGeom>
          <a:noFill/>
          <a:ln/>
        </p:spPr>
        <p:txBody>
          <a:bodyPr wrap="square" rtlCol="0" anchor="ctr"/>
          <a:lstStyle/>
          <a:p>
            <a:pPr algn="ctr" indent="0" marL="0">
              <a:buNone/>
            </a:pPr>
            <a:r>
              <a:rPr lang="en-US" sz="2000" dirty="0">
                <a:solidFill>
                  <a:srgbClr val="FFFFFF"/>
                </a:solidFill>
              </a:rPr>
              <a:t>det kommer tivoli til byen! Eieren har lovet deg gratis inngang hvis du klarer å vise at det er mye matematikk i et tivolibesøk.</a:t>
            </a:r>
            <a:endParaRPr lang="en-US" sz="2000" dirty="0"/>
          </a:p>
        </p:txBody>
      </p:sp>
      <p:sp>
        <p:nvSpPr>
          <p:cNvPr id="5" name="Lys 1"/>
          <p:cNvSpPr/>
          <p:nvPr/>
        </p:nvSpPr>
        <p:spPr>
          <a:xfrm>
            <a:off x="548640" y="4206240"/>
            <a:ext cx="128016" cy="128016"/>
          </a:xfrm>
          <a:prstGeom prst="ellipse">
            <a:avLst/>
          </a:prstGeom>
          <a:solidFill>
            <a:srgbClr val="E63946"/>
          </a:solidFill>
          <a:ln/>
        </p:spPr>
      </p:sp>
      <p:sp>
        <p:nvSpPr>
          <p:cNvPr id="6" name="Lys 2"/>
          <p:cNvSpPr/>
          <p:nvPr/>
        </p:nvSpPr>
        <p:spPr>
          <a:xfrm>
            <a:off x="1005840" y="4206240"/>
            <a:ext cx="128016" cy="128016"/>
          </a:xfrm>
          <a:prstGeom prst="ellipse">
            <a:avLst/>
          </a:prstGeom>
          <a:solidFill>
            <a:srgbClr val="F4B400"/>
          </a:solidFill>
          <a:ln/>
        </p:spPr>
      </p:sp>
      <p:sp>
        <p:nvSpPr>
          <p:cNvPr id="7" name="Lys 3"/>
          <p:cNvSpPr/>
          <p:nvPr/>
        </p:nvSpPr>
        <p:spPr>
          <a:xfrm>
            <a:off x="1463040" y="4206240"/>
            <a:ext cx="128016" cy="128016"/>
          </a:xfrm>
          <a:prstGeom prst="ellipse">
            <a:avLst/>
          </a:prstGeom>
          <a:solidFill>
            <a:srgbClr val="2A9D8F"/>
          </a:solidFill>
          <a:ln/>
        </p:spPr>
      </p:sp>
      <p:sp>
        <p:nvSpPr>
          <p:cNvPr id="8" name="Lys 4"/>
          <p:cNvSpPr/>
          <p:nvPr/>
        </p:nvSpPr>
        <p:spPr>
          <a:xfrm>
            <a:off x="1920240" y="4206240"/>
            <a:ext cx="128016" cy="128016"/>
          </a:xfrm>
          <a:prstGeom prst="ellipse">
            <a:avLst/>
          </a:prstGeom>
          <a:solidFill>
            <a:srgbClr val="3A6EA5"/>
          </a:solidFill>
          <a:ln/>
        </p:spPr>
      </p:sp>
      <p:sp>
        <p:nvSpPr>
          <p:cNvPr id="9" name="Lys 5"/>
          <p:cNvSpPr/>
          <p:nvPr/>
        </p:nvSpPr>
        <p:spPr>
          <a:xfrm>
            <a:off x="2377440" y="4206240"/>
            <a:ext cx="128016" cy="128016"/>
          </a:xfrm>
          <a:prstGeom prst="ellipse">
            <a:avLst/>
          </a:prstGeom>
          <a:solidFill>
            <a:srgbClr val="8E44AD"/>
          </a:solidFill>
          <a:ln/>
        </p:spPr>
      </p:sp>
      <p:sp>
        <p:nvSpPr>
          <p:cNvPr id="10" name="Lys 6"/>
          <p:cNvSpPr/>
          <p:nvPr/>
        </p:nvSpPr>
        <p:spPr>
          <a:xfrm>
            <a:off x="2834640" y="4206240"/>
            <a:ext cx="128016" cy="128016"/>
          </a:xfrm>
          <a:prstGeom prst="ellipse">
            <a:avLst/>
          </a:prstGeom>
          <a:solidFill>
            <a:srgbClr val="F77F00"/>
          </a:solidFill>
          <a:ln/>
        </p:spPr>
      </p:sp>
      <p:sp>
        <p:nvSpPr>
          <p:cNvPr id="11" name="Lys 7"/>
          <p:cNvSpPr/>
          <p:nvPr/>
        </p:nvSpPr>
        <p:spPr>
          <a:xfrm>
            <a:off x="3291840" y="4206240"/>
            <a:ext cx="128016" cy="128016"/>
          </a:xfrm>
          <a:prstGeom prst="ellipse">
            <a:avLst/>
          </a:prstGeom>
          <a:solidFill>
            <a:srgbClr val="E63946"/>
          </a:solidFill>
          <a:ln/>
        </p:spPr>
      </p:sp>
      <p:sp>
        <p:nvSpPr>
          <p:cNvPr id="12" name="Lys 8"/>
          <p:cNvSpPr/>
          <p:nvPr/>
        </p:nvSpPr>
        <p:spPr>
          <a:xfrm>
            <a:off x="3749040" y="4206240"/>
            <a:ext cx="128016" cy="128016"/>
          </a:xfrm>
          <a:prstGeom prst="ellipse">
            <a:avLst/>
          </a:prstGeom>
          <a:solidFill>
            <a:srgbClr val="F4B400"/>
          </a:solidFill>
          <a:ln/>
        </p:spPr>
      </p:sp>
      <p:sp>
        <p:nvSpPr>
          <p:cNvPr id="13" name="Lys 9"/>
          <p:cNvSpPr/>
          <p:nvPr/>
        </p:nvSpPr>
        <p:spPr>
          <a:xfrm>
            <a:off x="4206240" y="4206240"/>
            <a:ext cx="128016" cy="128016"/>
          </a:xfrm>
          <a:prstGeom prst="ellipse">
            <a:avLst/>
          </a:prstGeom>
          <a:solidFill>
            <a:srgbClr val="2A9D8F"/>
          </a:solidFill>
          <a:ln/>
        </p:spPr>
      </p:sp>
      <p:sp>
        <p:nvSpPr>
          <p:cNvPr id="14" name="Lys 10"/>
          <p:cNvSpPr/>
          <p:nvPr/>
        </p:nvSpPr>
        <p:spPr>
          <a:xfrm>
            <a:off x="4663440" y="4206240"/>
            <a:ext cx="128016" cy="128016"/>
          </a:xfrm>
          <a:prstGeom prst="ellipse">
            <a:avLst/>
          </a:prstGeom>
          <a:solidFill>
            <a:srgbClr val="3A6EA5"/>
          </a:solidFill>
          <a:ln/>
        </p:spPr>
      </p:sp>
      <p:sp>
        <p:nvSpPr>
          <p:cNvPr id="15" name="Lys 11"/>
          <p:cNvSpPr/>
          <p:nvPr/>
        </p:nvSpPr>
        <p:spPr>
          <a:xfrm>
            <a:off x="5120640" y="4206240"/>
            <a:ext cx="128016" cy="128016"/>
          </a:xfrm>
          <a:prstGeom prst="ellipse">
            <a:avLst/>
          </a:prstGeom>
          <a:solidFill>
            <a:srgbClr val="8E44AD"/>
          </a:solidFill>
          <a:ln/>
        </p:spPr>
      </p:sp>
      <p:sp>
        <p:nvSpPr>
          <p:cNvPr id="16" name="Lys 12"/>
          <p:cNvSpPr/>
          <p:nvPr/>
        </p:nvSpPr>
        <p:spPr>
          <a:xfrm>
            <a:off x="5577840" y="4206240"/>
            <a:ext cx="128016" cy="128016"/>
          </a:xfrm>
          <a:prstGeom prst="ellipse">
            <a:avLst/>
          </a:prstGeom>
          <a:solidFill>
            <a:srgbClr val="F77F00"/>
          </a:solidFill>
          <a:ln/>
        </p:spPr>
      </p:sp>
      <p:sp>
        <p:nvSpPr>
          <p:cNvPr id="17" name="Lys 13"/>
          <p:cNvSpPr/>
          <p:nvPr/>
        </p:nvSpPr>
        <p:spPr>
          <a:xfrm>
            <a:off x="6035040" y="4206240"/>
            <a:ext cx="128016" cy="128016"/>
          </a:xfrm>
          <a:prstGeom prst="ellipse">
            <a:avLst/>
          </a:prstGeom>
          <a:solidFill>
            <a:srgbClr val="E63946"/>
          </a:solidFill>
          <a:ln/>
        </p:spPr>
      </p:sp>
      <p:sp>
        <p:nvSpPr>
          <p:cNvPr id="18" name="Lys 14"/>
          <p:cNvSpPr/>
          <p:nvPr/>
        </p:nvSpPr>
        <p:spPr>
          <a:xfrm>
            <a:off x="6492240" y="4206240"/>
            <a:ext cx="128016" cy="128016"/>
          </a:xfrm>
          <a:prstGeom prst="ellipse">
            <a:avLst/>
          </a:prstGeom>
          <a:solidFill>
            <a:srgbClr val="F4B400"/>
          </a:solidFill>
          <a:ln/>
        </p:spPr>
      </p:sp>
      <p:sp>
        <p:nvSpPr>
          <p:cNvPr id="19" name="Lys 15"/>
          <p:cNvSpPr/>
          <p:nvPr/>
        </p:nvSpPr>
        <p:spPr>
          <a:xfrm>
            <a:off x="6949440" y="4206240"/>
            <a:ext cx="128016" cy="128016"/>
          </a:xfrm>
          <a:prstGeom prst="ellipse">
            <a:avLst/>
          </a:prstGeom>
          <a:solidFill>
            <a:srgbClr val="2A9D8F"/>
          </a:solidFill>
          <a:ln/>
        </p:spPr>
      </p:sp>
      <p:sp>
        <p:nvSpPr>
          <p:cNvPr id="20" name="Lys 16"/>
          <p:cNvSpPr/>
          <p:nvPr/>
        </p:nvSpPr>
        <p:spPr>
          <a:xfrm>
            <a:off x="7406640" y="4206240"/>
            <a:ext cx="128016" cy="128016"/>
          </a:xfrm>
          <a:prstGeom prst="ellipse">
            <a:avLst/>
          </a:prstGeom>
          <a:solidFill>
            <a:srgbClr val="3A6EA5"/>
          </a:solidFill>
          <a:ln/>
        </p:spPr>
      </p:sp>
      <p:sp>
        <p:nvSpPr>
          <p:cNvPr id="21" name="Lys 17"/>
          <p:cNvSpPr/>
          <p:nvPr/>
        </p:nvSpPr>
        <p:spPr>
          <a:xfrm>
            <a:off x="7863840" y="4206240"/>
            <a:ext cx="128016" cy="128016"/>
          </a:xfrm>
          <a:prstGeom prst="ellipse">
            <a:avLst/>
          </a:prstGeom>
          <a:solidFill>
            <a:srgbClr val="8E44AD"/>
          </a:solidFill>
          <a:ln/>
        </p:spPr>
      </p:sp>
      <p:sp>
        <p:nvSpPr>
          <p:cNvPr id="22" name="Lys 18"/>
          <p:cNvSpPr/>
          <p:nvPr/>
        </p:nvSpPr>
        <p:spPr>
          <a:xfrm>
            <a:off x="8321040" y="4206240"/>
            <a:ext cx="128016" cy="128016"/>
          </a:xfrm>
          <a:prstGeom prst="ellipse">
            <a:avLst/>
          </a:prstGeom>
          <a:solidFill>
            <a:srgbClr val="F77F00"/>
          </a:solidFill>
          <a:ln/>
        </p:spPr>
      </p:sp>
      <p:sp>
        <p:nvSpPr>
          <p:cNvPr id="24" name="Text 0"/>
          <p:cNvSpPr/>
          <p:nvPr>
            <p:ph idx="100" type="title" hasCustomPrompt="1"/>
          </p:nvPr>
        </p:nvSpPr>
        <p:spPr>
          <a:xfrm>
            <a:off x="548640" y="1463040"/>
            <a:ext cx="8046720" cy="1097280"/>
          </a:xfrm>
          <a:prstGeom prst="rect">
            <a:avLst/>
          </a:prstGeom>
          <a:noFill/>
          <a:ln/>
        </p:spPr>
        <p:txBody>
          <a:bodyPr wrap="square" rtlCol="0" anchor="ctr"/>
          <a:lstStyle/>
          <a:p>
            <a:pPr algn="ctr" indent="0" marL="0">
              <a:buNone/>
            </a:pPr>
            <a:endParaRPr lang="en-US" sz="5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indent="0" marL="0">
              <a:buNone/>
            </a:pPr>
            <a:r>
              <a:rPr lang="en-US" sz="3600" b="1" dirty="0">
                <a:solidFill>
                  <a:schemeClr val="tx1"/>
                </a:solidFill>
              </a:rPr>
              <a:t>Innledning</a:t>
            </a:r>
            <a:endParaRPr lang="en-US" sz="3600" dirty="0"/>
          </a:p>
        </p:txBody>
      </p:sp>
      <p:sp>
        <p:nvSpPr>
          <p:cNvPr id="3" name="Boks"/>
          <p:cNvSpPr/>
          <p:nvPr/>
        </p:nvSpPr>
        <p:spPr>
          <a:xfrm>
            <a:off x="548640" y="1280160"/>
            <a:ext cx="8046720" cy="3108960"/>
          </a:xfrm>
          <a:prstGeom prst="roundRect">
            <a:avLst>
              <a:gd name="adj" fmla="val 4412"/>
            </a:avLst>
          </a:prstGeom>
          <a:solidFill>
            <a:srgbClr val="F3F1FA"/>
          </a:solidFill>
          <a:ln/>
        </p:spPr>
      </p:sp>
      <p:sp>
        <p:nvSpPr>
          <p:cNvPr id="4" name="Innledning tekst"/>
          <p:cNvSpPr txBox="1"/>
          <p:nvPr/>
        </p:nvSpPr>
        <p:spPr>
          <a:xfrm>
            <a:off x="822960" y="1463040"/>
            <a:ext cx="7498080" cy="2743200"/>
          </a:xfrm>
          <a:prstGeom prst="rect">
            <a:avLst/>
          </a:prstGeom>
          <a:noFill/>
          <a:ln/>
        </p:spPr>
        <p:txBody>
          <a:bodyPr wrap="square" rtlCol="0" anchor="ctr"/>
          <a:lstStyle/>
          <a:p>
            <a:pPr indent="0" marL="0">
              <a:lnSpc>
                <a:spcPct val="115000"/>
              </a:lnSpc>
              <a:spcAft>
                <a:spcPts val="600"/>
              </a:spcAft>
              <a:buNone/>
            </a:pPr>
            <a:r>
              <a:rPr lang="en-US" sz="1800" dirty="0">
                <a:solidFill>
                  <a:srgbClr val="1B1340"/>
                </a:solidFill>
              </a:rPr>
              <a:t>Det kommer tivoli til byen, og eieren har lovet gratis inngang hvis jeg kan vise at det er mye matte i et tivoli besøk. Mange tenker kanskje tenker at tivoli bare handler om å ha det gøy men det er matte overalt. I denne presentasjonen skal jeg se på tre ting: hva billettene koster, sjansen for å vinne på lykkehjulet, og geometri i hjulene. Til slutt skal jeg svare på om jeg har klart utfordringen.</a:t>
            </a: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indent="0" marL="0">
              <a:buNone/>
            </a:pPr>
            <a:r>
              <a:rPr lang="en-US" sz="3600" b="1" dirty="0">
                <a:solidFill>
                  <a:schemeClr val="tx1"/>
                </a:solidFill>
              </a:rPr>
              <a:t>Lykkehjulet</a:t>
            </a:r>
            <a:endParaRPr lang="en-US" sz="3600" dirty="0"/>
          </a:p>
        </p:txBody>
      </p:sp>
      <p:sp>
        <p:nvSpPr>
          <p:cNvPr id="3" name="Kort 1"/>
          <p:cNvSpPr/>
          <p:nvPr/>
        </p:nvSpPr>
        <p:spPr>
          <a:xfrm>
            <a:off x="548640" y="1325880"/>
            <a:ext cx="4754880" cy="640080"/>
          </a:xfrm>
          <a:prstGeom prst="roundRect">
            <a:avLst>
              <a:gd name="adj" fmla="val 17143"/>
            </a:avLst>
          </a:prstGeom>
          <a:solidFill>
            <a:srgbClr val="F3F1FA"/>
          </a:solidFill>
          <a:ln/>
        </p:spPr>
      </p:sp>
      <p:sp>
        <p:nvSpPr>
          <p:cNvPr id="4" name="Prikk 1"/>
          <p:cNvSpPr/>
          <p:nvPr/>
        </p:nvSpPr>
        <p:spPr>
          <a:xfrm>
            <a:off x="731520" y="1508760"/>
            <a:ext cx="274320" cy="274320"/>
          </a:xfrm>
          <a:prstGeom prst="ellipse">
            <a:avLst/>
          </a:prstGeom>
          <a:solidFill>
            <a:srgbClr val="E63946"/>
          </a:solidFill>
          <a:ln/>
        </p:spPr>
      </p:sp>
      <p:sp>
        <p:nvSpPr>
          <p:cNvPr id="5" name="Punkt 1"/>
          <p:cNvSpPr txBox="1"/>
          <p:nvPr/>
        </p:nvSpPr>
        <p:spPr>
          <a:xfrm>
            <a:off x="1188720" y="1325880"/>
            <a:ext cx="4023360" cy="640080"/>
          </a:xfrm>
          <a:prstGeom prst="rect">
            <a:avLst/>
          </a:prstGeom>
          <a:noFill/>
          <a:ln/>
        </p:spPr>
        <p:txBody>
          <a:bodyPr wrap="square" rtlCol="0" anchor="ctr"/>
          <a:lstStyle/>
          <a:p>
            <a:pPr indent="0" marL="0">
              <a:buNone/>
            </a:pPr>
            <a:r>
              <a:rPr lang="en-US" sz="1600" dirty="0">
                <a:solidFill>
                  <a:srgbClr val="1B1340"/>
                </a:solidFill>
              </a:rPr>
              <a:t>Lykkehjulet har 12 felt.</a:t>
            </a:r>
            <a:endParaRPr lang="en-US" sz="1600" dirty="0"/>
          </a:p>
        </p:txBody>
      </p:sp>
      <p:sp>
        <p:nvSpPr>
          <p:cNvPr id="6" name="Kort 2"/>
          <p:cNvSpPr/>
          <p:nvPr/>
        </p:nvSpPr>
        <p:spPr>
          <a:xfrm>
            <a:off x="548640" y="2148840"/>
            <a:ext cx="4754880" cy="640080"/>
          </a:xfrm>
          <a:prstGeom prst="roundRect">
            <a:avLst>
              <a:gd name="adj" fmla="val 17143"/>
            </a:avLst>
          </a:prstGeom>
          <a:solidFill>
            <a:srgbClr val="F3F1FA"/>
          </a:solidFill>
          <a:ln/>
        </p:spPr>
      </p:sp>
      <p:sp>
        <p:nvSpPr>
          <p:cNvPr id="7" name="Prikk 2"/>
          <p:cNvSpPr/>
          <p:nvPr/>
        </p:nvSpPr>
        <p:spPr>
          <a:xfrm>
            <a:off x="731520" y="2331720"/>
            <a:ext cx="274320" cy="274320"/>
          </a:xfrm>
          <a:prstGeom prst="ellipse">
            <a:avLst/>
          </a:prstGeom>
          <a:solidFill>
            <a:srgbClr val="3A6EA5"/>
          </a:solidFill>
          <a:ln/>
        </p:spPr>
      </p:sp>
      <p:sp>
        <p:nvSpPr>
          <p:cNvPr id="8" name="Punkt 2"/>
          <p:cNvSpPr txBox="1"/>
          <p:nvPr/>
        </p:nvSpPr>
        <p:spPr>
          <a:xfrm>
            <a:off x="1188720" y="2148840"/>
            <a:ext cx="4023360" cy="640080"/>
          </a:xfrm>
          <a:prstGeom prst="rect">
            <a:avLst/>
          </a:prstGeom>
          <a:noFill/>
          <a:ln/>
        </p:spPr>
        <p:txBody>
          <a:bodyPr wrap="square" rtlCol="0" anchor="ctr"/>
          <a:lstStyle/>
          <a:p>
            <a:pPr indent="0" marL="0">
              <a:buNone/>
            </a:pPr>
            <a:r>
              <a:rPr lang="en-US" sz="1600" dirty="0">
                <a:solidFill>
                  <a:srgbClr val="1B1340"/>
                </a:solidFill>
              </a:rPr>
              <a:t>Det er 4 farger: rød, blå, gul og grønn.</a:t>
            </a:r>
            <a:endParaRPr lang="en-US" sz="1600" dirty="0"/>
          </a:p>
        </p:txBody>
      </p:sp>
      <p:sp>
        <p:nvSpPr>
          <p:cNvPr id="9" name="Kort 3"/>
          <p:cNvSpPr/>
          <p:nvPr/>
        </p:nvSpPr>
        <p:spPr>
          <a:xfrm>
            <a:off x="548640" y="2971800"/>
            <a:ext cx="4754880" cy="640080"/>
          </a:xfrm>
          <a:prstGeom prst="roundRect">
            <a:avLst>
              <a:gd name="adj" fmla="val 17143"/>
            </a:avLst>
          </a:prstGeom>
          <a:solidFill>
            <a:srgbClr val="F3F1FA"/>
          </a:solidFill>
          <a:ln/>
        </p:spPr>
      </p:sp>
      <p:sp>
        <p:nvSpPr>
          <p:cNvPr id="10" name="Prikk 3"/>
          <p:cNvSpPr/>
          <p:nvPr/>
        </p:nvSpPr>
        <p:spPr>
          <a:xfrm>
            <a:off x="731520" y="3154680"/>
            <a:ext cx="274320" cy="274320"/>
          </a:xfrm>
          <a:prstGeom prst="ellipse">
            <a:avLst/>
          </a:prstGeom>
          <a:solidFill>
            <a:srgbClr val="F4B400"/>
          </a:solidFill>
          <a:ln/>
        </p:spPr>
      </p:sp>
      <p:sp>
        <p:nvSpPr>
          <p:cNvPr id="11" name="Punkt 3"/>
          <p:cNvSpPr txBox="1"/>
          <p:nvPr/>
        </p:nvSpPr>
        <p:spPr>
          <a:xfrm>
            <a:off x="1188720" y="2971800"/>
            <a:ext cx="4023360" cy="640080"/>
          </a:xfrm>
          <a:prstGeom prst="rect">
            <a:avLst/>
          </a:prstGeom>
          <a:noFill/>
          <a:ln/>
        </p:spPr>
        <p:txBody>
          <a:bodyPr wrap="square" rtlCol="0" anchor="ctr"/>
          <a:lstStyle/>
          <a:p>
            <a:pPr indent="0" marL="0">
              <a:buNone/>
            </a:pPr>
            <a:r>
              <a:rPr lang="en-US" sz="1600" dirty="0">
                <a:solidFill>
                  <a:srgbClr val="1B1340"/>
                </a:solidFill>
              </a:rPr>
              <a:t>Hver farge har 3 felt.</a:t>
            </a:r>
            <a:endParaRPr lang="en-US" sz="1600" dirty="0"/>
          </a:p>
        </p:txBody>
      </p:sp>
      <p:sp>
        <p:nvSpPr>
          <p:cNvPr id="12" name="Kort 4"/>
          <p:cNvSpPr/>
          <p:nvPr/>
        </p:nvSpPr>
        <p:spPr>
          <a:xfrm>
            <a:off x="548640" y="3794760"/>
            <a:ext cx="4754880" cy="640080"/>
          </a:xfrm>
          <a:prstGeom prst="roundRect">
            <a:avLst>
              <a:gd name="adj" fmla="val 17143"/>
            </a:avLst>
          </a:prstGeom>
          <a:solidFill>
            <a:srgbClr val="F3F1FA"/>
          </a:solidFill>
          <a:ln/>
        </p:spPr>
      </p:sp>
      <p:sp>
        <p:nvSpPr>
          <p:cNvPr id="13" name="Prikk 4"/>
          <p:cNvSpPr/>
          <p:nvPr/>
        </p:nvSpPr>
        <p:spPr>
          <a:xfrm>
            <a:off x="731520" y="3977640"/>
            <a:ext cx="274320" cy="274320"/>
          </a:xfrm>
          <a:prstGeom prst="ellipse">
            <a:avLst/>
          </a:prstGeom>
          <a:solidFill>
            <a:srgbClr val="2A9D8F"/>
          </a:solidFill>
          <a:ln/>
        </p:spPr>
      </p:sp>
      <p:sp>
        <p:nvSpPr>
          <p:cNvPr id="14" name="Punkt 4"/>
          <p:cNvSpPr txBox="1"/>
          <p:nvPr/>
        </p:nvSpPr>
        <p:spPr>
          <a:xfrm>
            <a:off x="1188720" y="3794760"/>
            <a:ext cx="4023360" cy="640080"/>
          </a:xfrm>
          <a:prstGeom prst="rect">
            <a:avLst/>
          </a:prstGeom>
          <a:noFill/>
          <a:ln/>
        </p:spPr>
        <p:txBody>
          <a:bodyPr wrap="square" rtlCol="0" anchor="ctr"/>
          <a:lstStyle/>
          <a:p>
            <a:pPr indent="0" marL="0">
              <a:buNone/>
            </a:pPr>
            <a:r>
              <a:rPr lang="en-US" sz="1600" dirty="0">
                <a:solidFill>
                  <a:srgbClr val="1B1340"/>
                </a:solidFill>
              </a:rPr>
              <a:t>Alle feltene er like store.</a:t>
            </a:r>
            <a:endParaRPr lang="en-US" sz="1600" dirty="0"/>
          </a:p>
        </p:txBody>
      </p:sp>
      <p:pic>
        <p:nvPicPr>
          <p:cNvPr id="15" name="Bilde lykkehjul" descr="lykkehjul.jpg">    </p:cNvPr>
          <p:cNvPicPr>
            <a:picLocks noChangeAspect="1"/>
          </p:cNvPicPr>
          <p:nvPr/>
        </p:nvPicPr>
        <p:blipFill>
          <a:blip r:embed="rId1"/>
          <a:srcRect l="-13694" r="-13694" t="0" b="0"/>
          <a:stretch/>
        </p:blipFill>
        <p:spPr>
          <a:xfrm>
            <a:off x="5669280" y="1097280"/>
            <a:ext cx="2926080" cy="2926080"/>
          </a:xfrm>
          <a:prstGeom prst="rect">
            <a:avLst/>
          </a:prstGeom>
        </p:spPr>
      </p:pic>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indent="0" marL="0">
              <a:buNone/>
            </a:pPr>
            <a:r>
              <a:rPr lang="en-US" sz="3600" b="1" dirty="0">
                <a:solidFill>
                  <a:schemeClr val="tx1"/>
                </a:solidFill>
              </a:rPr>
              <a:t>Pariserhjulet</a:t>
            </a:r>
            <a:endParaRPr lang="en-US" sz="3600" dirty="0"/>
          </a:p>
        </p:txBody>
      </p:sp>
      <p:pic>
        <p:nvPicPr>
          <p:cNvPr id="3" name="Bilde pariserhjul" descr="pariser.jpg">    </p:cNvPr>
          <p:cNvPicPr>
            <a:picLocks noChangeAspect="1"/>
          </p:cNvPicPr>
          <p:nvPr/>
        </p:nvPicPr>
        <p:blipFill>
          <a:blip r:embed="rId1"/>
          <a:stretch>
            <a:fillRect/>
          </a:stretch>
        </p:blipFill>
        <p:spPr>
          <a:xfrm>
            <a:off x="548640" y="1234440"/>
            <a:ext cx="2697480" cy="3474720"/>
          </a:xfrm>
          <a:prstGeom prst="rect">
            <a:avLst/>
          </a:prstGeom>
        </p:spPr>
      </p:pic>
      <p:sp>
        <p:nvSpPr>
          <p:cNvPr id="4" name="Kort Diameter"/>
          <p:cNvSpPr/>
          <p:nvPr/>
        </p:nvSpPr>
        <p:spPr>
          <a:xfrm>
            <a:off x="3657600" y="1234440"/>
            <a:ext cx="2286000" cy="1463040"/>
          </a:xfrm>
          <a:prstGeom prst="roundRect">
            <a:avLst>
              <a:gd name="adj" fmla="val 9375"/>
            </a:avLst>
          </a:prstGeom>
          <a:solidFill>
            <a:srgbClr val="F3F1FA"/>
          </a:solidFill>
          <a:ln/>
        </p:spPr>
      </p:sp>
      <p:sp>
        <p:nvSpPr>
          <p:cNvPr id="5" name="Tall Diameter"/>
          <p:cNvSpPr txBox="1"/>
          <p:nvPr/>
        </p:nvSpPr>
        <p:spPr>
          <a:xfrm>
            <a:off x="3657600" y="1325880"/>
            <a:ext cx="2286000" cy="822960"/>
          </a:xfrm>
          <a:prstGeom prst="rect">
            <a:avLst/>
          </a:prstGeom>
          <a:noFill/>
          <a:ln/>
        </p:spPr>
        <p:txBody>
          <a:bodyPr wrap="square" rtlCol="0" anchor="ctr"/>
          <a:lstStyle/>
          <a:p>
            <a:pPr algn="ctr" indent="0" marL="0">
              <a:buNone/>
            </a:pPr>
            <a:r>
              <a:rPr lang="en-US" sz="4000" b="1" dirty="0">
                <a:solidFill>
                  <a:srgbClr val="E63946"/>
                </a:solidFill>
              </a:rPr>
              <a:t>50 m</a:t>
            </a:r>
            <a:endParaRPr lang="en-US" sz="4000" dirty="0"/>
          </a:p>
        </p:txBody>
      </p:sp>
      <p:sp>
        <p:nvSpPr>
          <p:cNvPr id="6" name="Etikett Diameter"/>
          <p:cNvSpPr txBox="1"/>
          <p:nvPr/>
        </p:nvSpPr>
        <p:spPr>
          <a:xfrm>
            <a:off x="3657600" y="2103120"/>
            <a:ext cx="2286000" cy="457200"/>
          </a:xfrm>
          <a:prstGeom prst="rect">
            <a:avLst/>
          </a:prstGeom>
          <a:noFill/>
          <a:ln/>
        </p:spPr>
        <p:txBody>
          <a:bodyPr wrap="square" rtlCol="0" anchor="ctr"/>
          <a:lstStyle/>
          <a:p>
            <a:pPr algn="ctr" indent="0" marL="0">
              <a:buNone/>
            </a:pPr>
            <a:r>
              <a:rPr lang="en-US" sz="1600" dirty="0">
                <a:solidFill>
                  <a:srgbClr val="1B1340"/>
                </a:solidFill>
              </a:rPr>
              <a:t>Diameter</a:t>
            </a:r>
            <a:endParaRPr lang="en-US" sz="1600" dirty="0"/>
          </a:p>
        </p:txBody>
      </p:sp>
      <p:sp>
        <p:nvSpPr>
          <p:cNvPr id="7" name="Kort Radius"/>
          <p:cNvSpPr/>
          <p:nvPr/>
        </p:nvSpPr>
        <p:spPr>
          <a:xfrm>
            <a:off x="6217920" y="1234440"/>
            <a:ext cx="2286000" cy="1463040"/>
          </a:xfrm>
          <a:prstGeom prst="roundRect">
            <a:avLst>
              <a:gd name="adj" fmla="val 9375"/>
            </a:avLst>
          </a:prstGeom>
          <a:solidFill>
            <a:srgbClr val="F3F1FA"/>
          </a:solidFill>
          <a:ln/>
        </p:spPr>
      </p:sp>
      <p:sp>
        <p:nvSpPr>
          <p:cNvPr id="8" name="Tall Radius"/>
          <p:cNvSpPr txBox="1"/>
          <p:nvPr/>
        </p:nvSpPr>
        <p:spPr>
          <a:xfrm>
            <a:off x="6217920" y="1325880"/>
            <a:ext cx="2286000" cy="822960"/>
          </a:xfrm>
          <a:prstGeom prst="rect">
            <a:avLst/>
          </a:prstGeom>
          <a:noFill/>
          <a:ln/>
        </p:spPr>
        <p:txBody>
          <a:bodyPr wrap="square" rtlCol="0" anchor="ctr"/>
          <a:lstStyle/>
          <a:p>
            <a:pPr algn="ctr" indent="0" marL="0">
              <a:buNone/>
            </a:pPr>
            <a:r>
              <a:rPr lang="en-US" sz="4000" b="1" dirty="0">
                <a:solidFill>
                  <a:srgbClr val="3A6EA5"/>
                </a:solidFill>
              </a:rPr>
              <a:t>25 m</a:t>
            </a:r>
            <a:endParaRPr lang="en-US" sz="4000" dirty="0"/>
          </a:p>
        </p:txBody>
      </p:sp>
      <p:sp>
        <p:nvSpPr>
          <p:cNvPr id="9" name="Etikett Radius"/>
          <p:cNvSpPr txBox="1"/>
          <p:nvPr/>
        </p:nvSpPr>
        <p:spPr>
          <a:xfrm>
            <a:off x="6217920" y="2103120"/>
            <a:ext cx="2286000" cy="457200"/>
          </a:xfrm>
          <a:prstGeom prst="rect">
            <a:avLst/>
          </a:prstGeom>
          <a:noFill/>
          <a:ln/>
        </p:spPr>
        <p:txBody>
          <a:bodyPr wrap="square" rtlCol="0" anchor="ctr"/>
          <a:lstStyle/>
          <a:p>
            <a:pPr algn="ctr" indent="0" marL="0">
              <a:buNone/>
            </a:pPr>
            <a:r>
              <a:rPr lang="en-US" sz="1600" dirty="0">
                <a:solidFill>
                  <a:srgbClr val="1B1340"/>
                </a:solidFill>
              </a:rPr>
              <a:t>Radius</a:t>
            </a:r>
            <a:endParaRPr lang="en-US" sz="1600" dirty="0"/>
          </a:p>
        </p:txBody>
      </p:sp>
      <p:sp>
        <p:nvSpPr>
          <p:cNvPr id="10" name="Kort omkrets"/>
          <p:cNvSpPr/>
          <p:nvPr/>
        </p:nvSpPr>
        <p:spPr>
          <a:xfrm>
            <a:off x="3657600" y="2971800"/>
            <a:ext cx="4846320" cy="1737360"/>
          </a:xfrm>
          <a:prstGeom prst="roundRect">
            <a:avLst>
              <a:gd name="adj" fmla="val 7895"/>
            </a:avLst>
          </a:prstGeom>
          <a:solidFill>
            <a:srgbClr val="1B1340"/>
          </a:solidFill>
          <a:ln/>
        </p:spPr>
      </p:sp>
      <p:sp>
        <p:nvSpPr>
          <p:cNvPr id="11" name="Etikett omkrets"/>
          <p:cNvSpPr txBox="1"/>
          <p:nvPr/>
        </p:nvSpPr>
        <p:spPr>
          <a:xfrm>
            <a:off x="3931920" y="3108960"/>
            <a:ext cx="4297680" cy="457200"/>
          </a:xfrm>
          <a:prstGeom prst="rect">
            <a:avLst/>
          </a:prstGeom>
          <a:noFill/>
          <a:ln/>
        </p:spPr>
        <p:txBody>
          <a:bodyPr wrap="square" rtlCol="0" anchor="ctr"/>
          <a:lstStyle/>
          <a:p>
            <a:pPr indent="0" marL="0">
              <a:buNone/>
            </a:pPr>
            <a:r>
              <a:rPr lang="en-US" sz="1600" b="1" dirty="0">
                <a:solidFill>
                  <a:srgbClr val="F4B400"/>
                </a:solidFill>
              </a:rPr>
              <a:t>Omkrets</a:t>
            </a:r>
            <a:endParaRPr lang="en-US" sz="1600" dirty="0"/>
          </a:p>
        </p:txBody>
      </p:sp>
      <p:sp>
        <p:nvSpPr>
          <p:cNvPr id="12" name="Omkrets"/>
          <p:cNvSpPr txBox="1"/>
          <p:nvPr/>
        </p:nvSpPr>
        <p:spPr>
          <a:xfrm>
            <a:off x="3931920" y="3566160"/>
            <a:ext cx="4297680" cy="914400"/>
          </a:xfrm>
          <a:prstGeom prst="rect">
            <a:avLst/>
          </a:prstGeom>
          <a:noFill/>
          <a:ln/>
        </p:spPr>
        <p:txBody>
          <a:bodyPr wrap="square" rtlCol="0" anchor="ctr"/>
          <a:lstStyle/>
          <a:p>
            <a:pPr indent="0" marL="0">
              <a:buNone/>
            </a:pPr>
            <a:r>
              <a:rPr lang="en-US" sz="2800" b="1" dirty="0">
                <a:solidFill>
                  <a:srgbClr val="FFFFFF"/>
                </a:solidFill>
              </a:rPr>
              <a:t>π · d = 3,14 · 50 = 157 m</a:t>
            </a:r>
            <a:endParaRPr lang="en-US" sz="2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indent="0" marL="0">
              <a:buNone/>
            </a:pPr>
            <a:r>
              <a:rPr lang="en-US" sz="3600" b="1" dirty="0">
                <a:solidFill>
                  <a:schemeClr val="tx1"/>
                </a:solidFill>
              </a:rPr>
              <a:t>Åpningstider</a:t>
            </a:r>
            <a:endParaRPr lang="en-US" sz="3600" dirty="0"/>
          </a:p>
        </p:txBody>
      </p:sp>
      <p:sp>
        <p:nvSpPr>
          <p:cNvPr id="3" name="Kort Hverdager"/>
          <p:cNvSpPr/>
          <p:nvPr/>
        </p:nvSpPr>
        <p:spPr>
          <a:xfrm>
            <a:off x="548640" y="1280160"/>
            <a:ext cx="2560320" cy="1920240"/>
          </a:xfrm>
          <a:prstGeom prst="roundRect">
            <a:avLst>
              <a:gd name="adj" fmla="val 7143"/>
            </a:avLst>
          </a:prstGeom>
          <a:solidFill>
            <a:srgbClr val="F3F1FA"/>
          </a:solidFill>
          <a:ln/>
        </p:spPr>
      </p:sp>
      <p:sp>
        <p:nvSpPr>
          <p:cNvPr id="4" name="Dag Hverdager"/>
          <p:cNvSpPr txBox="1"/>
          <p:nvPr/>
        </p:nvSpPr>
        <p:spPr>
          <a:xfrm>
            <a:off x="548640" y="1371600"/>
            <a:ext cx="2560320" cy="457200"/>
          </a:xfrm>
          <a:prstGeom prst="rect">
            <a:avLst/>
          </a:prstGeom>
          <a:noFill/>
          <a:ln/>
        </p:spPr>
        <p:txBody>
          <a:bodyPr wrap="square" rtlCol="0" anchor="ctr"/>
          <a:lstStyle/>
          <a:p>
            <a:pPr algn="ctr" indent="0" marL="0">
              <a:buNone/>
            </a:pPr>
            <a:r>
              <a:rPr lang="en-US" sz="1800" b="1" dirty="0">
                <a:solidFill>
                  <a:srgbClr val="1B1340"/>
                </a:solidFill>
              </a:rPr>
              <a:t>Hverdager:</a:t>
            </a:r>
            <a:endParaRPr lang="en-US" sz="1800" dirty="0"/>
          </a:p>
        </p:txBody>
      </p:sp>
      <p:sp>
        <p:nvSpPr>
          <p:cNvPr id="5" name="Tid Hverdager"/>
          <p:cNvSpPr txBox="1"/>
          <p:nvPr/>
        </p:nvSpPr>
        <p:spPr>
          <a:xfrm>
            <a:off x="548640" y="1828800"/>
            <a:ext cx="2560320" cy="457200"/>
          </a:xfrm>
          <a:prstGeom prst="rect">
            <a:avLst/>
          </a:prstGeom>
          <a:noFill/>
          <a:ln/>
        </p:spPr>
        <p:txBody>
          <a:bodyPr wrap="square" rtlCol="0" anchor="ctr"/>
          <a:lstStyle/>
          <a:p>
            <a:pPr algn="ctr" indent="0" marL="0">
              <a:buNone/>
            </a:pPr>
            <a:r>
              <a:rPr lang="en-US" sz="1600" dirty="0">
                <a:solidFill>
                  <a:srgbClr val="1B1340"/>
                </a:solidFill>
              </a:rPr>
              <a:t>17:00–21:00</a:t>
            </a:r>
            <a:endParaRPr lang="en-US" sz="1600" dirty="0"/>
          </a:p>
        </p:txBody>
      </p:sp>
      <p:sp>
        <p:nvSpPr>
          <p:cNvPr id="6" name="Timer Hverdager"/>
          <p:cNvSpPr txBox="1"/>
          <p:nvPr/>
        </p:nvSpPr>
        <p:spPr>
          <a:xfrm>
            <a:off x="548640" y="2377440"/>
            <a:ext cx="2560320" cy="640080"/>
          </a:xfrm>
          <a:prstGeom prst="rect">
            <a:avLst/>
          </a:prstGeom>
          <a:noFill/>
          <a:ln/>
        </p:spPr>
        <p:txBody>
          <a:bodyPr wrap="square" rtlCol="0" anchor="ctr"/>
          <a:lstStyle/>
          <a:p>
            <a:pPr algn="ctr" indent="0" marL="0">
              <a:buNone/>
            </a:pPr>
            <a:r>
              <a:rPr lang="en-US" sz="2800" b="1" dirty="0">
                <a:solidFill>
                  <a:srgbClr val="E63946"/>
                </a:solidFill>
              </a:rPr>
              <a:t>= 4 timer</a:t>
            </a:r>
            <a:endParaRPr lang="en-US" sz="2800" dirty="0"/>
          </a:p>
        </p:txBody>
      </p:sp>
      <p:sp>
        <p:nvSpPr>
          <p:cNvPr id="7" name="Kort Lørdag"/>
          <p:cNvSpPr/>
          <p:nvPr/>
        </p:nvSpPr>
        <p:spPr>
          <a:xfrm>
            <a:off x="3291840" y="1280160"/>
            <a:ext cx="2560320" cy="1920240"/>
          </a:xfrm>
          <a:prstGeom prst="roundRect">
            <a:avLst>
              <a:gd name="adj" fmla="val 7143"/>
            </a:avLst>
          </a:prstGeom>
          <a:solidFill>
            <a:srgbClr val="F3F1FA"/>
          </a:solidFill>
          <a:ln/>
        </p:spPr>
      </p:sp>
      <p:sp>
        <p:nvSpPr>
          <p:cNvPr id="8" name="Dag Lørdag"/>
          <p:cNvSpPr txBox="1"/>
          <p:nvPr/>
        </p:nvSpPr>
        <p:spPr>
          <a:xfrm>
            <a:off x="3291840" y="1371600"/>
            <a:ext cx="2560320" cy="457200"/>
          </a:xfrm>
          <a:prstGeom prst="rect">
            <a:avLst/>
          </a:prstGeom>
          <a:noFill/>
          <a:ln/>
        </p:spPr>
        <p:txBody>
          <a:bodyPr wrap="square" rtlCol="0" anchor="ctr"/>
          <a:lstStyle/>
          <a:p>
            <a:pPr algn="ctr" indent="0" marL="0">
              <a:buNone/>
            </a:pPr>
            <a:r>
              <a:rPr lang="en-US" sz="1800" b="1" dirty="0">
                <a:solidFill>
                  <a:srgbClr val="1B1340"/>
                </a:solidFill>
              </a:rPr>
              <a:t>Lørdag:</a:t>
            </a:r>
            <a:endParaRPr lang="en-US" sz="1800" dirty="0"/>
          </a:p>
        </p:txBody>
      </p:sp>
      <p:sp>
        <p:nvSpPr>
          <p:cNvPr id="9" name="Tid Lørdag"/>
          <p:cNvSpPr txBox="1"/>
          <p:nvPr/>
        </p:nvSpPr>
        <p:spPr>
          <a:xfrm>
            <a:off x="3291840" y="1828800"/>
            <a:ext cx="2560320" cy="457200"/>
          </a:xfrm>
          <a:prstGeom prst="rect">
            <a:avLst/>
          </a:prstGeom>
          <a:noFill/>
          <a:ln/>
        </p:spPr>
        <p:txBody>
          <a:bodyPr wrap="square" rtlCol="0" anchor="ctr"/>
          <a:lstStyle/>
          <a:p>
            <a:pPr algn="ctr" indent="0" marL="0">
              <a:buNone/>
            </a:pPr>
            <a:r>
              <a:rPr lang="en-US" sz="1600" dirty="0">
                <a:solidFill>
                  <a:srgbClr val="1B1340"/>
                </a:solidFill>
              </a:rPr>
              <a:t>12:00–22:00</a:t>
            </a:r>
            <a:endParaRPr lang="en-US" sz="1600" dirty="0"/>
          </a:p>
        </p:txBody>
      </p:sp>
      <p:sp>
        <p:nvSpPr>
          <p:cNvPr id="10" name="Timer Lørdag"/>
          <p:cNvSpPr txBox="1"/>
          <p:nvPr/>
        </p:nvSpPr>
        <p:spPr>
          <a:xfrm>
            <a:off x="3291840" y="2377440"/>
            <a:ext cx="2560320" cy="640080"/>
          </a:xfrm>
          <a:prstGeom prst="rect">
            <a:avLst/>
          </a:prstGeom>
          <a:noFill/>
          <a:ln/>
        </p:spPr>
        <p:txBody>
          <a:bodyPr wrap="square" rtlCol="0" anchor="ctr"/>
          <a:lstStyle/>
          <a:p>
            <a:pPr algn="ctr" indent="0" marL="0">
              <a:buNone/>
            </a:pPr>
            <a:r>
              <a:rPr lang="en-US" sz="2800" b="1" dirty="0">
                <a:solidFill>
                  <a:srgbClr val="F4B400"/>
                </a:solidFill>
              </a:rPr>
              <a:t>= 10 timer</a:t>
            </a:r>
            <a:endParaRPr lang="en-US" sz="2800" dirty="0"/>
          </a:p>
        </p:txBody>
      </p:sp>
      <p:sp>
        <p:nvSpPr>
          <p:cNvPr id="11" name="Kort Søndag"/>
          <p:cNvSpPr/>
          <p:nvPr/>
        </p:nvSpPr>
        <p:spPr>
          <a:xfrm>
            <a:off x="6035040" y="1280160"/>
            <a:ext cx="2560320" cy="1920240"/>
          </a:xfrm>
          <a:prstGeom prst="roundRect">
            <a:avLst>
              <a:gd name="adj" fmla="val 7143"/>
            </a:avLst>
          </a:prstGeom>
          <a:solidFill>
            <a:srgbClr val="F3F1FA"/>
          </a:solidFill>
          <a:ln/>
        </p:spPr>
      </p:sp>
      <p:sp>
        <p:nvSpPr>
          <p:cNvPr id="12" name="Dag Søndag"/>
          <p:cNvSpPr txBox="1"/>
          <p:nvPr/>
        </p:nvSpPr>
        <p:spPr>
          <a:xfrm>
            <a:off x="6035040" y="1371600"/>
            <a:ext cx="2560320" cy="457200"/>
          </a:xfrm>
          <a:prstGeom prst="rect">
            <a:avLst/>
          </a:prstGeom>
          <a:noFill/>
          <a:ln/>
        </p:spPr>
        <p:txBody>
          <a:bodyPr wrap="square" rtlCol="0" anchor="ctr"/>
          <a:lstStyle/>
          <a:p>
            <a:pPr algn="ctr" indent="0" marL="0">
              <a:buNone/>
            </a:pPr>
            <a:r>
              <a:rPr lang="en-US" sz="1800" b="1" dirty="0">
                <a:solidFill>
                  <a:srgbClr val="1B1340"/>
                </a:solidFill>
              </a:rPr>
              <a:t>Søndag:</a:t>
            </a:r>
            <a:endParaRPr lang="en-US" sz="1800" dirty="0"/>
          </a:p>
        </p:txBody>
      </p:sp>
      <p:sp>
        <p:nvSpPr>
          <p:cNvPr id="13" name="Tid Søndag"/>
          <p:cNvSpPr txBox="1"/>
          <p:nvPr/>
        </p:nvSpPr>
        <p:spPr>
          <a:xfrm>
            <a:off x="6035040" y="1828800"/>
            <a:ext cx="2560320" cy="457200"/>
          </a:xfrm>
          <a:prstGeom prst="rect">
            <a:avLst/>
          </a:prstGeom>
          <a:noFill/>
          <a:ln/>
        </p:spPr>
        <p:txBody>
          <a:bodyPr wrap="square" rtlCol="0" anchor="ctr"/>
          <a:lstStyle/>
          <a:p>
            <a:pPr algn="ctr" indent="0" marL="0">
              <a:buNone/>
            </a:pPr>
            <a:r>
              <a:rPr lang="en-US" sz="1600" dirty="0">
                <a:solidFill>
                  <a:srgbClr val="1B1340"/>
                </a:solidFill>
              </a:rPr>
              <a:t>13:00–22:00</a:t>
            </a:r>
            <a:endParaRPr lang="en-US" sz="1600" dirty="0"/>
          </a:p>
        </p:txBody>
      </p:sp>
      <p:sp>
        <p:nvSpPr>
          <p:cNvPr id="14" name="Timer Søndag"/>
          <p:cNvSpPr txBox="1"/>
          <p:nvPr/>
        </p:nvSpPr>
        <p:spPr>
          <a:xfrm>
            <a:off x="6035040" y="2377440"/>
            <a:ext cx="2560320" cy="640080"/>
          </a:xfrm>
          <a:prstGeom prst="rect">
            <a:avLst/>
          </a:prstGeom>
          <a:noFill/>
          <a:ln/>
        </p:spPr>
        <p:txBody>
          <a:bodyPr wrap="square" rtlCol="0" anchor="ctr"/>
          <a:lstStyle/>
          <a:p>
            <a:pPr algn="ctr" indent="0" marL="0">
              <a:buNone/>
            </a:pPr>
            <a:r>
              <a:rPr lang="en-US" sz="2800" b="1" dirty="0">
                <a:solidFill>
                  <a:srgbClr val="2A9D8F"/>
                </a:solidFill>
              </a:rPr>
              <a:t>= 9 timer</a:t>
            </a:r>
            <a:endParaRPr lang="en-US" sz="2800" dirty="0"/>
          </a:p>
        </p:txBody>
      </p:sp>
      <p:sp>
        <p:nvSpPr>
          <p:cNvPr id="15" name="Kort uke"/>
          <p:cNvSpPr/>
          <p:nvPr/>
        </p:nvSpPr>
        <p:spPr>
          <a:xfrm>
            <a:off x="548640" y="3474720"/>
            <a:ext cx="8046720" cy="1005840"/>
          </a:xfrm>
          <a:prstGeom prst="roundRect">
            <a:avLst>
              <a:gd name="adj" fmla="val 13636"/>
            </a:avLst>
          </a:prstGeom>
          <a:solidFill>
            <a:srgbClr val="1B1340"/>
          </a:solidFill>
          <a:ln/>
        </p:spPr>
      </p:sp>
      <p:sp>
        <p:nvSpPr>
          <p:cNvPr id="16" name="Hele uka"/>
          <p:cNvSpPr txBox="1"/>
          <p:nvPr/>
        </p:nvSpPr>
        <p:spPr>
          <a:xfrm>
            <a:off x="548640" y="3474720"/>
            <a:ext cx="8046720" cy="1005840"/>
          </a:xfrm>
          <a:prstGeom prst="rect">
            <a:avLst/>
          </a:prstGeom>
          <a:noFill/>
          <a:ln/>
        </p:spPr>
        <p:txBody>
          <a:bodyPr wrap="square" rtlCol="0" anchor="ctr"/>
          <a:lstStyle/>
          <a:p>
            <a:pPr algn="ctr" indent="0" marL="0">
              <a:buNone/>
            </a:pPr>
            <a:r>
              <a:rPr lang="en-US" sz="2600" b="1" dirty="0">
                <a:solidFill>
                  <a:srgbClr val="F4B400"/>
                </a:solidFill>
              </a:rPr>
              <a:t>Hele uka: </a:t>
            </a:r>
            <a:pPr algn="ctr" indent="0" marL="0">
              <a:buNone/>
            </a:pPr>
            <a:r>
              <a:rPr lang="en-US" sz="2600" b="1" dirty="0">
                <a:solidFill>
                  <a:srgbClr val="FFFFFF"/>
                </a:solidFill>
              </a:rPr>
              <a:t>5 · 4 + 10 + 9 = 39 time</a:t>
            </a:r>
            <a:endParaRPr lang="en-US" sz="2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indent="0" marL="0">
              <a:buNone/>
            </a:pPr>
            <a:r>
              <a:rPr lang="en-US" sz="3600" b="1" dirty="0">
                <a:solidFill>
                  <a:schemeClr val="tx1"/>
                </a:solidFill>
              </a:rPr>
              <a:t>Priser</a:t>
            </a:r>
            <a:endParaRPr lang="en-US" sz="3600" dirty="0"/>
          </a:p>
        </p:txBody>
      </p:sp>
      <p:sp>
        <p:nvSpPr>
          <p:cNvPr id="3" name="Kort 1"/>
          <p:cNvSpPr/>
          <p:nvPr/>
        </p:nvSpPr>
        <p:spPr>
          <a:xfrm>
            <a:off x="548640" y="1280160"/>
            <a:ext cx="3931920" cy="1417320"/>
          </a:xfrm>
          <a:prstGeom prst="roundRect">
            <a:avLst>
              <a:gd name="adj" fmla="val 9677"/>
            </a:avLst>
          </a:prstGeom>
          <a:solidFill>
            <a:srgbClr val="8E44AD"/>
          </a:solidFill>
          <a:ln/>
        </p:spPr>
      </p:sp>
      <p:sp>
        <p:nvSpPr>
          <p:cNvPr id="4" name="Etikett 1"/>
          <p:cNvSpPr txBox="1"/>
          <p:nvPr/>
        </p:nvSpPr>
        <p:spPr>
          <a:xfrm>
            <a:off x="822960" y="1417320"/>
            <a:ext cx="3383280" cy="457200"/>
          </a:xfrm>
          <a:prstGeom prst="rect">
            <a:avLst/>
          </a:prstGeom>
          <a:noFill/>
          <a:ln/>
        </p:spPr>
        <p:txBody>
          <a:bodyPr wrap="square" rtlCol="0" anchor="ctr"/>
          <a:lstStyle/>
          <a:p>
            <a:pPr indent="0" marL="0">
              <a:buNone/>
            </a:pPr>
            <a:r>
              <a:rPr lang="en-US" sz="1600" dirty="0">
                <a:solidFill>
                  <a:srgbClr val="FFFFFF"/>
                </a:solidFill>
              </a:rPr>
              <a:t>Enkeltbillett:</a:t>
            </a:r>
            <a:endParaRPr lang="en-US" sz="1600" dirty="0"/>
          </a:p>
        </p:txBody>
      </p:sp>
      <p:sp>
        <p:nvSpPr>
          <p:cNvPr id="5" name="Verdi 1"/>
          <p:cNvSpPr txBox="1"/>
          <p:nvPr/>
        </p:nvSpPr>
        <p:spPr>
          <a:xfrm>
            <a:off x="822960" y="1874520"/>
            <a:ext cx="3383280" cy="640080"/>
          </a:xfrm>
          <a:prstGeom prst="rect">
            <a:avLst/>
          </a:prstGeom>
          <a:noFill/>
          <a:ln/>
        </p:spPr>
        <p:txBody>
          <a:bodyPr wrap="square" rtlCol="0" anchor="ctr"/>
          <a:lstStyle/>
          <a:p>
            <a:pPr indent="0" marL="0">
              <a:buNone/>
            </a:pPr>
            <a:r>
              <a:rPr lang="en-US" sz="2600" b="1" dirty="0">
                <a:solidFill>
                  <a:srgbClr val="FFFFFF"/>
                </a:solidFill>
              </a:rPr>
              <a:t>45 kr</a:t>
            </a:r>
            <a:endParaRPr lang="en-US" sz="2600" dirty="0"/>
          </a:p>
        </p:txBody>
      </p:sp>
      <p:sp>
        <p:nvSpPr>
          <p:cNvPr id="6" name="Kort 2"/>
          <p:cNvSpPr/>
          <p:nvPr/>
        </p:nvSpPr>
        <p:spPr>
          <a:xfrm>
            <a:off x="4663440" y="1280160"/>
            <a:ext cx="3931920" cy="1417320"/>
          </a:xfrm>
          <a:prstGeom prst="roundRect">
            <a:avLst>
              <a:gd name="adj" fmla="val 9677"/>
            </a:avLst>
          </a:prstGeom>
          <a:solidFill>
            <a:srgbClr val="3A6EA5"/>
          </a:solidFill>
          <a:ln/>
        </p:spPr>
      </p:sp>
      <p:sp>
        <p:nvSpPr>
          <p:cNvPr id="7" name="Etikett 2"/>
          <p:cNvSpPr txBox="1"/>
          <p:nvPr/>
        </p:nvSpPr>
        <p:spPr>
          <a:xfrm>
            <a:off x="4937760" y="1417320"/>
            <a:ext cx="3383280" cy="457200"/>
          </a:xfrm>
          <a:prstGeom prst="rect">
            <a:avLst/>
          </a:prstGeom>
          <a:noFill/>
          <a:ln/>
        </p:spPr>
        <p:txBody>
          <a:bodyPr wrap="square" rtlCol="0" anchor="ctr"/>
          <a:lstStyle/>
          <a:p>
            <a:pPr indent="0" marL="0">
              <a:buNone/>
            </a:pPr>
            <a:r>
              <a:rPr lang="en-US" sz="1600" dirty="0">
                <a:solidFill>
                  <a:srgbClr val="FFFFFF"/>
                </a:solidFill>
              </a:rPr>
              <a:t>Rabatthefte:</a:t>
            </a:r>
            <a:endParaRPr lang="en-US" sz="1600" dirty="0"/>
          </a:p>
        </p:txBody>
      </p:sp>
      <p:sp>
        <p:nvSpPr>
          <p:cNvPr id="8" name="Verdi 2"/>
          <p:cNvSpPr txBox="1"/>
          <p:nvPr/>
        </p:nvSpPr>
        <p:spPr>
          <a:xfrm>
            <a:off x="4937760" y="1874520"/>
            <a:ext cx="3383280" cy="640080"/>
          </a:xfrm>
          <a:prstGeom prst="rect">
            <a:avLst/>
          </a:prstGeom>
          <a:noFill/>
          <a:ln/>
        </p:spPr>
        <p:txBody>
          <a:bodyPr wrap="square" rtlCol="0" anchor="ctr"/>
          <a:lstStyle/>
          <a:p>
            <a:pPr indent="0" marL="0">
              <a:buNone/>
            </a:pPr>
            <a:r>
              <a:rPr lang="en-US" sz="2600" b="1" dirty="0">
                <a:solidFill>
                  <a:srgbClr val="FFFFFF"/>
                </a:solidFill>
              </a:rPr>
              <a:t>7 billetter = 260 kr</a:t>
            </a:r>
            <a:endParaRPr lang="en-US" sz="2600" dirty="0"/>
          </a:p>
        </p:txBody>
      </p:sp>
      <p:sp>
        <p:nvSpPr>
          <p:cNvPr id="9" name="Kort 3"/>
          <p:cNvSpPr/>
          <p:nvPr/>
        </p:nvSpPr>
        <p:spPr>
          <a:xfrm>
            <a:off x="548640" y="2926080"/>
            <a:ext cx="3931920" cy="1417320"/>
          </a:xfrm>
          <a:prstGeom prst="roundRect">
            <a:avLst>
              <a:gd name="adj" fmla="val 9677"/>
            </a:avLst>
          </a:prstGeom>
          <a:solidFill>
            <a:srgbClr val="2A9D8F"/>
          </a:solidFill>
          <a:ln/>
        </p:spPr>
      </p:sp>
      <p:sp>
        <p:nvSpPr>
          <p:cNvPr id="10" name="Etikett 3"/>
          <p:cNvSpPr txBox="1"/>
          <p:nvPr/>
        </p:nvSpPr>
        <p:spPr>
          <a:xfrm>
            <a:off x="822960" y="3063240"/>
            <a:ext cx="3383280" cy="457200"/>
          </a:xfrm>
          <a:prstGeom prst="rect">
            <a:avLst/>
          </a:prstGeom>
          <a:noFill/>
          <a:ln/>
        </p:spPr>
        <p:txBody>
          <a:bodyPr wrap="square" rtlCol="0" anchor="ctr"/>
          <a:lstStyle/>
          <a:p>
            <a:pPr indent="0" marL="0">
              <a:buNone/>
            </a:pPr>
            <a:r>
              <a:rPr lang="en-US" sz="1600" dirty="0">
                <a:solidFill>
                  <a:srgbClr val="FFFFFF"/>
                </a:solidFill>
              </a:rPr>
              <a:t>Pris per billett i heftet:</a:t>
            </a:r>
            <a:endParaRPr lang="en-US" sz="1600" dirty="0"/>
          </a:p>
        </p:txBody>
      </p:sp>
      <p:sp>
        <p:nvSpPr>
          <p:cNvPr id="11" name="Verdi 3"/>
          <p:cNvSpPr txBox="1"/>
          <p:nvPr/>
        </p:nvSpPr>
        <p:spPr>
          <a:xfrm>
            <a:off x="822960" y="3520440"/>
            <a:ext cx="3383280" cy="640080"/>
          </a:xfrm>
          <a:prstGeom prst="rect">
            <a:avLst/>
          </a:prstGeom>
          <a:noFill/>
          <a:ln/>
        </p:spPr>
        <p:txBody>
          <a:bodyPr wrap="square" rtlCol="0" anchor="ctr"/>
          <a:lstStyle/>
          <a:p>
            <a:pPr indent="0" marL="0">
              <a:buNone/>
            </a:pPr>
            <a:r>
              <a:rPr lang="en-US" sz="2600" b="1" dirty="0">
                <a:solidFill>
                  <a:srgbClr val="FFFFFF"/>
                </a:solidFill>
              </a:rPr>
              <a:t>260 : 7 ≈ 37 kr</a:t>
            </a:r>
            <a:endParaRPr lang="en-US" sz="2600" dirty="0"/>
          </a:p>
        </p:txBody>
      </p:sp>
      <p:sp>
        <p:nvSpPr>
          <p:cNvPr id="12" name="Kort 4"/>
          <p:cNvSpPr/>
          <p:nvPr/>
        </p:nvSpPr>
        <p:spPr>
          <a:xfrm>
            <a:off x="4663440" y="2926080"/>
            <a:ext cx="3931920" cy="1417320"/>
          </a:xfrm>
          <a:prstGeom prst="roundRect">
            <a:avLst>
              <a:gd name="adj" fmla="val 9677"/>
            </a:avLst>
          </a:prstGeom>
          <a:solidFill>
            <a:srgbClr val="E63946"/>
          </a:solidFill>
          <a:ln/>
        </p:spPr>
      </p:sp>
      <p:sp>
        <p:nvSpPr>
          <p:cNvPr id="13" name="Etikett 4"/>
          <p:cNvSpPr txBox="1"/>
          <p:nvPr/>
        </p:nvSpPr>
        <p:spPr>
          <a:xfrm>
            <a:off x="4937760" y="3063240"/>
            <a:ext cx="3383280" cy="457200"/>
          </a:xfrm>
          <a:prstGeom prst="rect">
            <a:avLst/>
          </a:prstGeom>
          <a:noFill/>
          <a:ln/>
        </p:spPr>
        <p:txBody>
          <a:bodyPr wrap="square" rtlCol="0" anchor="ctr"/>
          <a:lstStyle/>
          <a:p>
            <a:pPr indent="0" marL="0">
              <a:buNone/>
            </a:pPr>
            <a:r>
              <a:rPr lang="en-US" sz="1600" dirty="0">
                <a:solidFill>
                  <a:srgbClr val="FFFFFF"/>
                </a:solidFill>
              </a:rPr>
              <a:t>7 enkeltbilletter:</a:t>
            </a:r>
            <a:endParaRPr lang="en-US" sz="1600" dirty="0"/>
          </a:p>
        </p:txBody>
      </p:sp>
      <p:sp>
        <p:nvSpPr>
          <p:cNvPr id="14" name="Verdi 4"/>
          <p:cNvSpPr txBox="1"/>
          <p:nvPr/>
        </p:nvSpPr>
        <p:spPr>
          <a:xfrm>
            <a:off x="4937760" y="3520440"/>
            <a:ext cx="3383280" cy="640080"/>
          </a:xfrm>
          <a:prstGeom prst="rect">
            <a:avLst/>
          </a:prstGeom>
          <a:noFill/>
          <a:ln/>
        </p:spPr>
        <p:txBody>
          <a:bodyPr wrap="square" rtlCol="0" anchor="ctr"/>
          <a:lstStyle/>
          <a:p>
            <a:pPr indent="0" marL="0">
              <a:buNone/>
            </a:pPr>
            <a:r>
              <a:rPr lang="en-US" sz="2600" b="1" dirty="0">
                <a:solidFill>
                  <a:srgbClr val="FFFFFF"/>
                </a:solidFill>
              </a:rPr>
              <a:t>7 · 45 = 315 kr</a:t>
            </a:r>
            <a:endParaRPr lang="en-US" sz="2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Tivoli">
  <a:themeElements>
    <a:clrScheme name="Tivoli">
      <a:dk1>
        <a:srgbClr val="1B1340"/>
      </a:dk1>
      <a:lt1>
        <a:srgbClr val="FFFFFF"/>
      </a:lt1>
      <a:dk2>
        <a:srgbClr val="2A1F5C"/>
      </a:dk2>
      <a:lt2>
        <a:srgbClr val="F3F1FA"/>
      </a:lt2>
      <a:accent1>
        <a:srgbClr val="E63946"/>
      </a:accent1>
      <a:accent2>
        <a:srgbClr val="F4B400"/>
      </a:accent2>
      <a:accent3>
        <a:srgbClr val="2A9D8F"/>
      </a:accent3>
      <a:accent4>
        <a:srgbClr val="3A6EA5"/>
      </a:accent4>
      <a:accent5>
        <a:srgbClr val="8E44AD"/>
      </a:accent5>
      <a:accent6>
        <a:srgbClr val="F77F00"/>
      </a:accent6>
      <a:hlink>
        <a:srgbClr val="3A6EA5"/>
      </a:hlink>
      <a:folHlink>
        <a:srgbClr val="8E44AD"/>
      </a:folHlink>
    </a:clrScheme>
    <a:fontScheme name="Tivol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Matematikk</dc:title>
  <dc:subject>PptxGenJS Presentation</dc:subject>
  <dc:creator>Lucas Steen Jacobsen</dc:creator>
  <cp:lastModifiedBy>Lucas Steen Jacobsen</cp:lastModifiedBy>
  <cp:revision>1</cp:revision>
  <dcterms:created xsi:type="dcterms:W3CDTF">2026-10-29T10:26:12Z</dcterms:created>
  <dcterms:modified xsi:type="dcterms:W3CDTF">2026-10-29T10:26:12Z</dcterms:modified>
</cp:coreProperties>
</file>