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ork">
    <p:bg>
      <p:bgPr>
        <a:solidFill>
          <a:srgbClr val="1B13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463040"/>
            <a:ext cx="804672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5400" b="1" dirty="0">
                <a:solidFill>
                  <a:schemeClr val="bg1"/>
                </a:solidFill>
              </a:defRPr>
            </a:lvl1pPr>
          </a:lstStyle>
          <a:p>
            <a:pPr algn="ctr" indent="0" marL="0">
              <a:buNone/>
            </a:pPr>
            <a:endParaRPr lang="en-US" sz="54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ys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600" b="1" dirty="0">
                <a:solidFill>
                  <a:schemeClr val="tx1"/>
                </a:solidFill>
              </a:defRPr>
            </a:lvl1pPr>
          </a:lstStyle>
          <a:p>
            <a:pPr indent="0" marL="0">
              <a:buNone/>
            </a:pPr>
            <a:endParaRPr lang="en-US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4A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4A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463040"/>
            <a:ext cx="8046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chemeClr val="bg1"/>
                </a:solidFill>
              </a:rPr>
              <a:t>Matematikk</a:t>
            </a:r>
            <a:endParaRPr lang="en-US" sz="5400" dirty="0"/>
          </a:p>
        </p:txBody>
      </p:sp>
      <p:sp>
        <p:nvSpPr>
          <p:cNvPr id="3" name="Lys 1"/>
          <p:cNvSpPr/>
          <p:nvPr/>
        </p:nvSpPr>
        <p:spPr>
          <a:xfrm>
            <a:off x="548640" y="4023360"/>
            <a:ext cx="128016" cy="128016"/>
          </a:xfrm>
          <a:prstGeom prst="ellipse">
            <a:avLst/>
          </a:prstGeom>
          <a:solidFill>
            <a:srgbClr val="E63946"/>
          </a:solidFill>
          <a:ln/>
        </p:spPr>
      </p:sp>
      <p:sp>
        <p:nvSpPr>
          <p:cNvPr id="4" name="Lys 2"/>
          <p:cNvSpPr/>
          <p:nvPr/>
        </p:nvSpPr>
        <p:spPr>
          <a:xfrm>
            <a:off x="1005840" y="4023360"/>
            <a:ext cx="128016" cy="128016"/>
          </a:xfrm>
          <a:prstGeom prst="ellipse">
            <a:avLst/>
          </a:prstGeom>
          <a:solidFill>
            <a:srgbClr val="F4B400"/>
          </a:solidFill>
          <a:ln/>
        </p:spPr>
      </p:sp>
      <p:sp>
        <p:nvSpPr>
          <p:cNvPr id="5" name="Lys 3"/>
          <p:cNvSpPr/>
          <p:nvPr/>
        </p:nvSpPr>
        <p:spPr>
          <a:xfrm>
            <a:off x="1463040" y="4023360"/>
            <a:ext cx="128016" cy="128016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6" name="Lys 4"/>
          <p:cNvSpPr/>
          <p:nvPr/>
        </p:nvSpPr>
        <p:spPr>
          <a:xfrm>
            <a:off x="1920240" y="4023360"/>
            <a:ext cx="128016" cy="128016"/>
          </a:xfrm>
          <a:prstGeom prst="ellipse">
            <a:avLst/>
          </a:prstGeom>
          <a:solidFill>
            <a:srgbClr val="3A6EA5"/>
          </a:solidFill>
          <a:ln/>
        </p:spPr>
      </p:sp>
      <p:sp>
        <p:nvSpPr>
          <p:cNvPr id="7" name="Lys 5"/>
          <p:cNvSpPr/>
          <p:nvPr/>
        </p:nvSpPr>
        <p:spPr>
          <a:xfrm>
            <a:off x="2377440" y="4023360"/>
            <a:ext cx="128016" cy="128016"/>
          </a:xfrm>
          <a:prstGeom prst="ellipse">
            <a:avLst/>
          </a:prstGeom>
          <a:solidFill>
            <a:srgbClr val="8E44AD"/>
          </a:solidFill>
          <a:ln/>
        </p:spPr>
      </p:sp>
      <p:sp>
        <p:nvSpPr>
          <p:cNvPr id="8" name="Lys 6"/>
          <p:cNvSpPr/>
          <p:nvPr/>
        </p:nvSpPr>
        <p:spPr>
          <a:xfrm>
            <a:off x="2834640" y="4023360"/>
            <a:ext cx="128016" cy="128016"/>
          </a:xfrm>
          <a:prstGeom prst="ellipse">
            <a:avLst/>
          </a:prstGeom>
          <a:solidFill>
            <a:srgbClr val="F77F00"/>
          </a:solidFill>
          <a:ln/>
        </p:spPr>
      </p:sp>
      <p:sp>
        <p:nvSpPr>
          <p:cNvPr id="9" name="Lys 7"/>
          <p:cNvSpPr/>
          <p:nvPr/>
        </p:nvSpPr>
        <p:spPr>
          <a:xfrm>
            <a:off x="3291840" y="4023360"/>
            <a:ext cx="128016" cy="128016"/>
          </a:xfrm>
          <a:prstGeom prst="ellipse">
            <a:avLst/>
          </a:prstGeom>
          <a:solidFill>
            <a:srgbClr val="E63946"/>
          </a:solidFill>
          <a:ln/>
        </p:spPr>
      </p:sp>
      <p:sp>
        <p:nvSpPr>
          <p:cNvPr id="10" name="Lys 8"/>
          <p:cNvSpPr/>
          <p:nvPr/>
        </p:nvSpPr>
        <p:spPr>
          <a:xfrm>
            <a:off x="3749040" y="4023360"/>
            <a:ext cx="128016" cy="128016"/>
          </a:xfrm>
          <a:prstGeom prst="ellipse">
            <a:avLst/>
          </a:prstGeom>
          <a:solidFill>
            <a:srgbClr val="F4B400"/>
          </a:solidFill>
          <a:ln/>
        </p:spPr>
      </p:sp>
      <p:sp>
        <p:nvSpPr>
          <p:cNvPr id="11" name="Lys 9"/>
          <p:cNvSpPr/>
          <p:nvPr/>
        </p:nvSpPr>
        <p:spPr>
          <a:xfrm>
            <a:off x="4206240" y="4023360"/>
            <a:ext cx="128016" cy="128016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12" name="Lys 10"/>
          <p:cNvSpPr/>
          <p:nvPr/>
        </p:nvSpPr>
        <p:spPr>
          <a:xfrm>
            <a:off x="4663440" y="4023360"/>
            <a:ext cx="128016" cy="128016"/>
          </a:xfrm>
          <a:prstGeom prst="ellipse">
            <a:avLst/>
          </a:prstGeom>
          <a:solidFill>
            <a:srgbClr val="3A6EA5"/>
          </a:solidFill>
          <a:ln/>
        </p:spPr>
      </p:sp>
      <p:sp>
        <p:nvSpPr>
          <p:cNvPr id="13" name="Lys 11"/>
          <p:cNvSpPr/>
          <p:nvPr/>
        </p:nvSpPr>
        <p:spPr>
          <a:xfrm>
            <a:off x="5120640" y="4023360"/>
            <a:ext cx="128016" cy="128016"/>
          </a:xfrm>
          <a:prstGeom prst="ellipse">
            <a:avLst/>
          </a:prstGeom>
          <a:solidFill>
            <a:srgbClr val="8E44AD"/>
          </a:solidFill>
          <a:ln/>
        </p:spPr>
      </p:sp>
      <p:sp>
        <p:nvSpPr>
          <p:cNvPr id="14" name="Lys 12"/>
          <p:cNvSpPr/>
          <p:nvPr/>
        </p:nvSpPr>
        <p:spPr>
          <a:xfrm>
            <a:off x="5577840" y="4023360"/>
            <a:ext cx="128016" cy="128016"/>
          </a:xfrm>
          <a:prstGeom prst="ellipse">
            <a:avLst/>
          </a:prstGeom>
          <a:solidFill>
            <a:srgbClr val="F77F00"/>
          </a:solidFill>
          <a:ln/>
        </p:spPr>
      </p:sp>
      <p:sp>
        <p:nvSpPr>
          <p:cNvPr id="15" name="Lys 13"/>
          <p:cNvSpPr/>
          <p:nvPr/>
        </p:nvSpPr>
        <p:spPr>
          <a:xfrm>
            <a:off x="6035040" y="4023360"/>
            <a:ext cx="128016" cy="128016"/>
          </a:xfrm>
          <a:prstGeom prst="ellipse">
            <a:avLst/>
          </a:prstGeom>
          <a:solidFill>
            <a:srgbClr val="E63946"/>
          </a:solidFill>
          <a:ln/>
        </p:spPr>
      </p:sp>
      <p:sp>
        <p:nvSpPr>
          <p:cNvPr id="16" name="Lys 14"/>
          <p:cNvSpPr/>
          <p:nvPr/>
        </p:nvSpPr>
        <p:spPr>
          <a:xfrm>
            <a:off x="6492240" y="4023360"/>
            <a:ext cx="128016" cy="128016"/>
          </a:xfrm>
          <a:prstGeom prst="ellipse">
            <a:avLst/>
          </a:prstGeom>
          <a:solidFill>
            <a:srgbClr val="F4B400"/>
          </a:solidFill>
          <a:ln/>
        </p:spPr>
      </p:sp>
      <p:sp>
        <p:nvSpPr>
          <p:cNvPr id="17" name="Lys 15"/>
          <p:cNvSpPr/>
          <p:nvPr/>
        </p:nvSpPr>
        <p:spPr>
          <a:xfrm>
            <a:off x="6949440" y="4023360"/>
            <a:ext cx="128016" cy="128016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18" name="Lys 16"/>
          <p:cNvSpPr/>
          <p:nvPr/>
        </p:nvSpPr>
        <p:spPr>
          <a:xfrm>
            <a:off x="7406640" y="4023360"/>
            <a:ext cx="128016" cy="128016"/>
          </a:xfrm>
          <a:prstGeom prst="ellipse">
            <a:avLst/>
          </a:prstGeom>
          <a:solidFill>
            <a:srgbClr val="3A6EA5"/>
          </a:solidFill>
          <a:ln/>
        </p:spPr>
      </p:sp>
      <p:sp>
        <p:nvSpPr>
          <p:cNvPr id="19" name="Lys 17"/>
          <p:cNvSpPr/>
          <p:nvPr/>
        </p:nvSpPr>
        <p:spPr>
          <a:xfrm>
            <a:off x="7863840" y="4023360"/>
            <a:ext cx="128016" cy="128016"/>
          </a:xfrm>
          <a:prstGeom prst="ellipse">
            <a:avLst/>
          </a:prstGeom>
          <a:solidFill>
            <a:srgbClr val="8E44AD"/>
          </a:solidFill>
          <a:ln/>
        </p:spPr>
      </p:sp>
      <p:sp>
        <p:nvSpPr>
          <p:cNvPr id="20" name="Lys 18"/>
          <p:cNvSpPr/>
          <p:nvPr/>
        </p:nvSpPr>
        <p:spPr>
          <a:xfrm>
            <a:off x="8321040" y="4023360"/>
            <a:ext cx="128016" cy="128016"/>
          </a:xfrm>
          <a:prstGeom prst="ellipse">
            <a:avLst/>
          </a:prstGeom>
          <a:solidFill>
            <a:srgbClr val="F77F00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"/>
          <p:cNvSpPr txBox="1"/>
          <p:nvPr/>
        </p:nvSpPr>
        <p:spPr>
          <a:xfrm>
            <a:off x="548640" y="91440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Problemstilling</a:t>
            </a:r>
            <a:endParaRPr lang="en-US" sz="4000" dirty="0"/>
          </a:p>
        </p:txBody>
      </p:sp>
      <p:sp>
        <p:nvSpPr>
          <p:cNvPr id="3" name="Boks"/>
          <p:cNvSpPr/>
          <p:nvPr/>
        </p:nvSpPr>
        <p:spPr>
          <a:xfrm>
            <a:off x="1097280" y="2011680"/>
            <a:ext cx="6949440" cy="1463040"/>
          </a:xfrm>
          <a:prstGeom prst="roundRect">
            <a:avLst>
              <a:gd name="adj" fmla="val 12500"/>
            </a:avLst>
          </a:prstGeom>
          <a:solidFill>
            <a:srgbClr val="2A1F5C"/>
          </a:solidFill>
          <a:ln w="19050">
            <a:solidFill>
              <a:srgbClr val="F4B400"/>
            </a:solidFill>
            <a:prstDash val="solid"/>
          </a:ln>
        </p:spPr>
      </p:sp>
      <p:sp>
        <p:nvSpPr>
          <p:cNvPr id="4" name="Problemstilling"/>
          <p:cNvSpPr txBox="1"/>
          <p:nvPr/>
        </p:nvSpPr>
        <p:spPr>
          <a:xfrm>
            <a:off x="1371600" y="2103120"/>
            <a:ext cx="64008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</a:rPr>
              <a:t>det kommer tivoli til byen! Eieren har lovet deg gratis inngang hvis du klarer å vise at det er mye matematikk i et tivolibesøk.</a:t>
            </a:r>
            <a:endParaRPr lang="en-US" sz="2000" dirty="0"/>
          </a:p>
        </p:txBody>
      </p:sp>
      <p:sp>
        <p:nvSpPr>
          <p:cNvPr id="5" name="Lys 1"/>
          <p:cNvSpPr/>
          <p:nvPr/>
        </p:nvSpPr>
        <p:spPr>
          <a:xfrm>
            <a:off x="548640" y="4206240"/>
            <a:ext cx="128016" cy="128016"/>
          </a:xfrm>
          <a:prstGeom prst="ellipse">
            <a:avLst/>
          </a:prstGeom>
          <a:solidFill>
            <a:srgbClr val="E63946"/>
          </a:solidFill>
          <a:ln/>
        </p:spPr>
      </p:sp>
      <p:sp>
        <p:nvSpPr>
          <p:cNvPr id="6" name="Lys 2"/>
          <p:cNvSpPr/>
          <p:nvPr/>
        </p:nvSpPr>
        <p:spPr>
          <a:xfrm>
            <a:off x="1005840" y="4206240"/>
            <a:ext cx="128016" cy="128016"/>
          </a:xfrm>
          <a:prstGeom prst="ellipse">
            <a:avLst/>
          </a:prstGeom>
          <a:solidFill>
            <a:srgbClr val="F4B400"/>
          </a:solidFill>
          <a:ln/>
        </p:spPr>
      </p:sp>
      <p:sp>
        <p:nvSpPr>
          <p:cNvPr id="7" name="Lys 3"/>
          <p:cNvSpPr/>
          <p:nvPr/>
        </p:nvSpPr>
        <p:spPr>
          <a:xfrm>
            <a:off x="1463040" y="4206240"/>
            <a:ext cx="128016" cy="128016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8" name="Lys 4"/>
          <p:cNvSpPr/>
          <p:nvPr/>
        </p:nvSpPr>
        <p:spPr>
          <a:xfrm>
            <a:off x="1920240" y="4206240"/>
            <a:ext cx="128016" cy="128016"/>
          </a:xfrm>
          <a:prstGeom prst="ellipse">
            <a:avLst/>
          </a:prstGeom>
          <a:solidFill>
            <a:srgbClr val="3A6EA5"/>
          </a:solidFill>
          <a:ln/>
        </p:spPr>
      </p:sp>
      <p:sp>
        <p:nvSpPr>
          <p:cNvPr id="9" name="Lys 5"/>
          <p:cNvSpPr/>
          <p:nvPr/>
        </p:nvSpPr>
        <p:spPr>
          <a:xfrm>
            <a:off x="2377440" y="4206240"/>
            <a:ext cx="128016" cy="128016"/>
          </a:xfrm>
          <a:prstGeom prst="ellipse">
            <a:avLst/>
          </a:prstGeom>
          <a:solidFill>
            <a:srgbClr val="8E44AD"/>
          </a:solidFill>
          <a:ln/>
        </p:spPr>
      </p:sp>
      <p:sp>
        <p:nvSpPr>
          <p:cNvPr id="10" name="Lys 6"/>
          <p:cNvSpPr/>
          <p:nvPr/>
        </p:nvSpPr>
        <p:spPr>
          <a:xfrm>
            <a:off x="2834640" y="4206240"/>
            <a:ext cx="128016" cy="128016"/>
          </a:xfrm>
          <a:prstGeom prst="ellipse">
            <a:avLst/>
          </a:prstGeom>
          <a:solidFill>
            <a:srgbClr val="F77F00"/>
          </a:solidFill>
          <a:ln/>
        </p:spPr>
      </p:sp>
      <p:sp>
        <p:nvSpPr>
          <p:cNvPr id="11" name="Lys 7"/>
          <p:cNvSpPr/>
          <p:nvPr/>
        </p:nvSpPr>
        <p:spPr>
          <a:xfrm>
            <a:off x="3291840" y="4206240"/>
            <a:ext cx="128016" cy="128016"/>
          </a:xfrm>
          <a:prstGeom prst="ellipse">
            <a:avLst/>
          </a:prstGeom>
          <a:solidFill>
            <a:srgbClr val="E63946"/>
          </a:solidFill>
          <a:ln/>
        </p:spPr>
      </p:sp>
      <p:sp>
        <p:nvSpPr>
          <p:cNvPr id="12" name="Lys 8"/>
          <p:cNvSpPr/>
          <p:nvPr/>
        </p:nvSpPr>
        <p:spPr>
          <a:xfrm>
            <a:off x="3749040" y="4206240"/>
            <a:ext cx="128016" cy="128016"/>
          </a:xfrm>
          <a:prstGeom prst="ellipse">
            <a:avLst/>
          </a:prstGeom>
          <a:solidFill>
            <a:srgbClr val="F4B400"/>
          </a:solidFill>
          <a:ln/>
        </p:spPr>
      </p:sp>
      <p:sp>
        <p:nvSpPr>
          <p:cNvPr id="13" name="Lys 9"/>
          <p:cNvSpPr/>
          <p:nvPr/>
        </p:nvSpPr>
        <p:spPr>
          <a:xfrm>
            <a:off x="4206240" y="4206240"/>
            <a:ext cx="128016" cy="128016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14" name="Lys 10"/>
          <p:cNvSpPr/>
          <p:nvPr/>
        </p:nvSpPr>
        <p:spPr>
          <a:xfrm>
            <a:off x="4663440" y="4206240"/>
            <a:ext cx="128016" cy="128016"/>
          </a:xfrm>
          <a:prstGeom prst="ellipse">
            <a:avLst/>
          </a:prstGeom>
          <a:solidFill>
            <a:srgbClr val="3A6EA5"/>
          </a:solidFill>
          <a:ln/>
        </p:spPr>
      </p:sp>
      <p:sp>
        <p:nvSpPr>
          <p:cNvPr id="15" name="Lys 11"/>
          <p:cNvSpPr/>
          <p:nvPr/>
        </p:nvSpPr>
        <p:spPr>
          <a:xfrm>
            <a:off x="5120640" y="4206240"/>
            <a:ext cx="128016" cy="128016"/>
          </a:xfrm>
          <a:prstGeom prst="ellipse">
            <a:avLst/>
          </a:prstGeom>
          <a:solidFill>
            <a:srgbClr val="8E44AD"/>
          </a:solidFill>
          <a:ln/>
        </p:spPr>
      </p:sp>
      <p:sp>
        <p:nvSpPr>
          <p:cNvPr id="16" name="Lys 12"/>
          <p:cNvSpPr/>
          <p:nvPr/>
        </p:nvSpPr>
        <p:spPr>
          <a:xfrm>
            <a:off x="5577840" y="4206240"/>
            <a:ext cx="128016" cy="128016"/>
          </a:xfrm>
          <a:prstGeom prst="ellipse">
            <a:avLst/>
          </a:prstGeom>
          <a:solidFill>
            <a:srgbClr val="F77F00"/>
          </a:solidFill>
          <a:ln/>
        </p:spPr>
      </p:sp>
      <p:sp>
        <p:nvSpPr>
          <p:cNvPr id="17" name="Lys 13"/>
          <p:cNvSpPr/>
          <p:nvPr/>
        </p:nvSpPr>
        <p:spPr>
          <a:xfrm>
            <a:off x="6035040" y="4206240"/>
            <a:ext cx="128016" cy="128016"/>
          </a:xfrm>
          <a:prstGeom prst="ellipse">
            <a:avLst/>
          </a:prstGeom>
          <a:solidFill>
            <a:srgbClr val="E63946"/>
          </a:solidFill>
          <a:ln/>
        </p:spPr>
      </p:sp>
      <p:sp>
        <p:nvSpPr>
          <p:cNvPr id="18" name="Lys 14"/>
          <p:cNvSpPr/>
          <p:nvPr/>
        </p:nvSpPr>
        <p:spPr>
          <a:xfrm>
            <a:off x="6492240" y="4206240"/>
            <a:ext cx="128016" cy="128016"/>
          </a:xfrm>
          <a:prstGeom prst="ellipse">
            <a:avLst/>
          </a:prstGeom>
          <a:solidFill>
            <a:srgbClr val="F4B400"/>
          </a:solidFill>
          <a:ln/>
        </p:spPr>
      </p:sp>
      <p:sp>
        <p:nvSpPr>
          <p:cNvPr id="19" name="Lys 15"/>
          <p:cNvSpPr/>
          <p:nvPr/>
        </p:nvSpPr>
        <p:spPr>
          <a:xfrm>
            <a:off x="6949440" y="4206240"/>
            <a:ext cx="128016" cy="128016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20" name="Lys 16"/>
          <p:cNvSpPr/>
          <p:nvPr/>
        </p:nvSpPr>
        <p:spPr>
          <a:xfrm>
            <a:off x="7406640" y="4206240"/>
            <a:ext cx="128016" cy="128016"/>
          </a:xfrm>
          <a:prstGeom prst="ellipse">
            <a:avLst/>
          </a:prstGeom>
          <a:solidFill>
            <a:srgbClr val="3A6EA5"/>
          </a:solidFill>
          <a:ln/>
        </p:spPr>
      </p:sp>
      <p:sp>
        <p:nvSpPr>
          <p:cNvPr id="21" name="Lys 17"/>
          <p:cNvSpPr/>
          <p:nvPr/>
        </p:nvSpPr>
        <p:spPr>
          <a:xfrm>
            <a:off x="7863840" y="4206240"/>
            <a:ext cx="128016" cy="128016"/>
          </a:xfrm>
          <a:prstGeom prst="ellipse">
            <a:avLst/>
          </a:prstGeom>
          <a:solidFill>
            <a:srgbClr val="8E44AD"/>
          </a:solidFill>
          <a:ln/>
        </p:spPr>
      </p:sp>
      <p:sp>
        <p:nvSpPr>
          <p:cNvPr id="22" name="Lys 18"/>
          <p:cNvSpPr/>
          <p:nvPr/>
        </p:nvSpPr>
        <p:spPr>
          <a:xfrm>
            <a:off x="8321040" y="4206240"/>
            <a:ext cx="128016" cy="128016"/>
          </a:xfrm>
          <a:prstGeom prst="ellipse">
            <a:avLst/>
          </a:prstGeom>
          <a:solidFill>
            <a:srgbClr val="F77F00"/>
          </a:solidFill>
          <a:ln/>
        </p:spPr>
      </p:sp>
      <p:sp>
        <p:nvSpPr>
          <p:cNvPr id="23" name="Text 0"/>
          <p:cNvSpPr/>
          <p:nvPr>
            <p:ph idx="100" type="title" hasCustomPrompt="1"/>
          </p:nvPr>
        </p:nvSpPr>
        <p:spPr>
          <a:xfrm>
            <a:off x="548640" y="1463040"/>
            <a:ext cx="8046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5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Innledning</a:t>
            </a:r>
            <a:endParaRPr lang="en-US" sz="3600" dirty="0"/>
          </a:p>
        </p:txBody>
      </p:sp>
      <p:sp>
        <p:nvSpPr>
          <p:cNvPr id="3" name="Boks"/>
          <p:cNvSpPr/>
          <p:nvPr/>
        </p:nvSpPr>
        <p:spPr>
          <a:xfrm>
            <a:off x="548640" y="1280160"/>
            <a:ext cx="8046720" cy="3108960"/>
          </a:xfrm>
          <a:prstGeom prst="roundRect">
            <a:avLst>
              <a:gd name="adj" fmla="val 4412"/>
            </a:avLst>
          </a:prstGeom>
          <a:solidFill>
            <a:srgbClr val="F3F1FA"/>
          </a:solidFill>
          <a:ln/>
        </p:spPr>
      </p:sp>
      <p:sp>
        <p:nvSpPr>
          <p:cNvPr id="4" name="Innledning tekst"/>
          <p:cNvSpPr txBox="1"/>
          <p:nvPr/>
        </p:nvSpPr>
        <p:spPr>
          <a:xfrm>
            <a:off x="822960" y="1463040"/>
            <a:ext cx="749808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800" dirty="0">
                <a:solidFill>
                  <a:srgbClr val="1B1340"/>
                </a:solidFill>
              </a:rPr>
              <a:t>Det kommer tivoli til byen, og eieren har lovet gratis inngang hvis jeg kan vise at det er mye matte i et tivoli besøk. Mange tenker kanskje tenker at tivoli bare handler om å ha det gøy men det er matte overalt. I denne presentasjonen skal jeg se på tre ting: hva billettene koster, sjansen for å vinne på lykkehjulet, og geometri i hjulene. Til slutt skal jeg svare på om jeg har klart utfordringen.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4A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Lykkehjulet</a:t>
            </a:r>
            <a:endParaRPr lang="en-US" sz="3600" dirty="0"/>
          </a:p>
        </p:txBody>
      </p:sp>
      <p:sp>
        <p:nvSpPr>
          <p:cNvPr id="3" name="Kort 1"/>
          <p:cNvSpPr/>
          <p:nvPr/>
        </p:nvSpPr>
        <p:spPr>
          <a:xfrm>
            <a:off x="548640" y="1325880"/>
            <a:ext cx="4754880" cy="640080"/>
          </a:xfrm>
          <a:prstGeom prst="roundRect">
            <a:avLst>
              <a:gd name="adj" fmla="val 17143"/>
            </a:avLst>
          </a:prstGeom>
          <a:solidFill>
            <a:srgbClr val="F3F1FA"/>
          </a:solidFill>
          <a:ln/>
        </p:spPr>
      </p:sp>
      <p:sp>
        <p:nvSpPr>
          <p:cNvPr id="4" name="Prikk 1"/>
          <p:cNvSpPr/>
          <p:nvPr/>
        </p:nvSpPr>
        <p:spPr>
          <a:xfrm>
            <a:off x="731520" y="1508760"/>
            <a:ext cx="274320" cy="274320"/>
          </a:xfrm>
          <a:prstGeom prst="ellipse">
            <a:avLst/>
          </a:prstGeom>
          <a:solidFill>
            <a:srgbClr val="E63946"/>
          </a:solidFill>
          <a:ln/>
        </p:spPr>
      </p:sp>
      <p:sp>
        <p:nvSpPr>
          <p:cNvPr id="5" name="Punkt 1"/>
          <p:cNvSpPr txBox="1"/>
          <p:nvPr/>
        </p:nvSpPr>
        <p:spPr>
          <a:xfrm>
            <a:off x="1188720" y="1325880"/>
            <a:ext cx="4023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1340"/>
                </a:solidFill>
              </a:rPr>
              <a:t>Lykkehjulet har 12 felt.</a:t>
            </a:r>
            <a:endParaRPr lang="en-US" sz="1600" dirty="0"/>
          </a:p>
        </p:txBody>
      </p:sp>
      <p:sp>
        <p:nvSpPr>
          <p:cNvPr id="6" name="Kort 2"/>
          <p:cNvSpPr/>
          <p:nvPr/>
        </p:nvSpPr>
        <p:spPr>
          <a:xfrm>
            <a:off x="548640" y="2148840"/>
            <a:ext cx="4754880" cy="640080"/>
          </a:xfrm>
          <a:prstGeom prst="roundRect">
            <a:avLst>
              <a:gd name="adj" fmla="val 17143"/>
            </a:avLst>
          </a:prstGeom>
          <a:solidFill>
            <a:srgbClr val="F3F1FA"/>
          </a:solidFill>
          <a:ln/>
        </p:spPr>
      </p:sp>
      <p:sp>
        <p:nvSpPr>
          <p:cNvPr id="7" name="Prikk 2"/>
          <p:cNvSpPr/>
          <p:nvPr/>
        </p:nvSpPr>
        <p:spPr>
          <a:xfrm>
            <a:off x="731520" y="2331720"/>
            <a:ext cx="274320" cy="274320"/>
          </a:xfrm>
          <a:prstGeom prst="ellipse">
            <a:avLst/>
          </a:prstGeom>
          <a:solidFill>
            <a:srgbClr val="3A6EA5"/>
          </a:solidFill>
          <a:ln/>
        </p:spPr>
      </p:sp>
      <p:sp>
        <p:nvSpPr>
          <p:cNvPr id="8" name="Punkt 2"/>
          <p:cNvSpPr txBox="1"/>
          <p:nvPr/>
        </p:nvSpPr>
        <p:spPr>
          <a:xfrm>
            <a:off x="1188720" y="2148840"/>
            <a:ext cx="4023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1340"/>
                </a:solidFill>
              </a:rPr>
              <a:t>Det er 4 farger: rød, blå, gul og grønn.</a:t>
            </a:r>
            <a:endParaRPr lang="en-US" sz="1600" dirty="0"/>
          </a:p>
        </p:txBody>
      </p:sp>
      <p:sp>
        <p:nvSpPr>
          <p:cNvPr id="9" name="Kort 3"/>
          <p:cNvSpPr/>
          <p:nvPr/>
        </p:nvSpPr>
        <p:spPr>
          <a:xfrm>
            <a:off x="548640" y="2971800"/>
            <a:ext cx="4754880" cy="640080"/>
          </a:xfrm>
          <a:prstGeom prst="roundRect">
            <a:avLst>
              <a:gd name="adj" fmla="val 17143"/>
            </a:avLst>
          </a:prstGeom>
          <a:solidFill>
            <a:srgbClr val="F3F1FA"/>
          </a:solidFill>
          <a:ln/>
        </p:spPr>
      </p:sp>
      <p:sp>
        <p:nvSpPr>
          <p:cNvPr id="10" name="Prikk 3"/>
          <p:cNvSpPr/>
          <p:nvPr/>
        </p:nvSpPr>
        <p:spPr>
          <a:xfrm>
            <a:off x="731520" y="3154680"/>
            <a:ext cx="274320" cy="274320"/>
          </a:xfrm>
          <a:prstGeom prst="ellipse">
            <a:avLst/>
          </a:prstGeom>
          <a:solidFill>
            <a:srgbClr val="F4B400"/>
          </a:solidFill>
          <a:ln/>
        </p:spPr>
      </p:sp>
      <p:sp>
        <p:nvSpPr>
          <p:cNvPr id="11" name="Punkt 3"/>
          <p:cNvSpPr txBox="1"/>
          <p:nvPr/>
        </p:nvSpPr>
        <p:spPr>
          <a:xfrm>
            <a:off x="1188720" y="2971800"/>
            <a:ext cx="4023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1340"/>
                </a:solidFill>
              </a:rPr>
              <a:t>Hver farge har 3 felt.</a:t>
            </a:r>
            <a:endParaRPr lang="en-US" sz="1600" dirty="0"/>
          </a:p>
        </p:txBody>
      </p:sp>
      <p:sp>
        <p:nvSpPr>
          <p:cNvPr id="12" name="Kort 4"/>
          <p:cNvSpPr/>
          <p:nvPr/>
        </p:nvSpPr>
        <p:spPr>
          <a:xfrm>
            <a:off x="548640" y="3794760"/>
            <a:ext cx="4754880" cy="640080"/>
          </a:xfrm>
          <a:prstGeom prst="roundRect">
            <a:avLst>
              <a:gd name="adj" fmla="val 17143"/>
            </a:avLst>
          </a:prstGeom>
          <a:solidFill>
            <a:srgbClr val="F3F1FA"/>
          </a:solidFill>
          <a:ln/>
        </p:spPr>
      </p:sp>
      <p:sp>
        <p:nvSpPr>
          <p:cNvPr id="13" name="Prikk 4"/>
          <p:cNvSpPr/>
          <p:nvPr/>
        </p:nvSpPr>
        <p:spPr>
          <a:xfrm>
            <a:off x="731520" y="3977640"/>
            <a:ext cx="274320" cy="274320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14" name="Punkt 4"/>
          <p:cNvSpPr txBox="1"/>
          <p:nvPr/>
        </p:nvSpPr>
        <p:spPr>
          <a:xfrm>
            <a:off x="1188720" y="3794760"/>
            <a:ext cx="4023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1340"/>
                </a:solidFill>
              </a:rPr>
              <a:t>Alle feltene er like store.</a:t>
            </a:r>
            <a:endParaRPr lang="en-US" sz="1600" dirty="0"/>
          </a:p>
        </p:txBody>
      </p:sp>
      <p:pic>
        <p:nvPicPr>
          <p:cNvPr id="15" name="Bilde lykkehjul" descr="lykkehjul.jpg">    </p:cNvPr>
          <p:cNvPicPr>
            <a:picLocks noChangeAspect="1"/>
          </p:cNvPicPr>
          <p:nvPr/>
        </p:nvPicPr>
        <p:blipFill>
          <a:blip r:embed="rId1"/>
          <a:srcRect l="-13694" r="-13694" t="0" b="0"/>
          <a:stretch/>
        </p:blipFill>
        <p:spPr>
          <a:xfrm>
            <a:off x="5669280" y="1097280"/>
            <a:ext cx="2926080" cy="292608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4A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Pariserhjulet</a:t>
            </a:r>
            <a:endParaRPr lang="en-US" sz="3600" dirty="0"/>
          </a:p>
        </p:txBody>
      </p:sp>
      <p:pic>
        <p:nvPicPr>
          <p:cNvPr id="3" name="Bilde pariserhjul" descr="paris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34440"/>
            <a:ext cx="2697480" cy="3474720"/>
          </a:xfrm>
          <a:prstGeom prst="rect">
            <a:avLst/>
          </a:prstGeom>
        </p:spPr>
      </p:pic>
      <p:sp>
        <p:nvSpPr>
          <p:cNvPr id="4" name="Kort Diameter"/>
          <p:cNvSpPr/>
          <p:nvPr/>
        </p:nvSpPr>
        <p:spPr>
          <a:xfrm>
            <a:off x="3657600" y="1234440"/>
            <a:ext cx="2286000" cy="1463040"/>
          </a:xfrm>
          <a:prstGeom prst="roundRect">
            <a:avLst>
              <a:gd name="adj" fmla="val 9375"/>
            </a:avLst>
          </a:prstGeom>
          <a:solidFill>
            <a:srgbClr val="F3F1FA"/>
          </a:solidFill>
          <a:ln/>
        </p:spPr>
      </p:sp>
      <p:sp>
        <p:nvSpPr>
          <p:cNvPr id="5" name="Tall Diameter"/>
          <p:cNvSpPr txBox="1"/>
          <p:nvPr/>
        </p:nvSpPr>
        <p:spPr>
          <a:xfrm>
            <a:off x="3657600" y="1325880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E63946"/>
                </a:solidFill>
              </a:rPr>
              <a:t>50 m</a:t>
            </a:r>
            <a:endParaRPr lang="en-US" sz="4000" dirty="0"/>
          </a:p>
        </p:txBody>
      </p:sp>
      <p:sp>
        <p:nvSpPr>
          <p:cNvPr id="6" name="Etikett Diameter"/>
          <p:cNvSpPr txBox="1"/>
          <p:nvPr/>
        </p:nvSpPr>
        <p:spPr>
          <a:xfrm>
            <a:off x="3657600" y="210312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B1340"/>
                </a:solidFill>
              </a:rPr>
              <a:t>Diameter</a:t>
            </a:r>
            <a:endParaRPr lang="en-US" sz="1600" dirty="0"/>
          </a:p>
        </p:txBody>
      </p:sp>
      <p:sp>
        <p:nvSpPr>
          <p:cNvPr id="7" name="Kort Radius"/>
          <p:cNvSpPr/>
          <p:nvPr/>
        </p:nvSpPr>
        <p:spPr>
          <a:xfrm>
            <a:off x="6217920" y="1234440"/>
            <a:ext cx="2286000" cy="1463040"/>
          </a:xfrm>
          <a:prstGeom prst="roundRect">
            <a:avLst>
              <a:gd name="adj" fmla="val 9375"/>
            </a:avLst>
          </a:prstGeom>
          <a:solidFill>
            <a:srgbClr val="F3F1FA"/>
          </a:solidFill>
          <a:ln/>
        </p:spPr>
      </p:sp>
      <p:sp>
        <p:nvSpPr>
          <p:cNvPr id="8" name="Tall Radius"/>
          <p:cNvSpPr txBox="1"/>
          <p:nvPr/>
        </p:nvSpPr>
        <p:spPr>
          <a:xfrm>
            <a:off x="6217920" y="1325880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3A6EA5"/>
                </a:solidFill>
              </a:rPr>
              <a:t>25 m</a:t>
            </a:r>
            <a:endParaRPr lang="en-US" sz="4000" dirty="0"/>
          </a:p>
        </p:txBody>
      </p:sp>
      <p:sp>
        <p:nvSpPr>
          <p:cNvPr id="9" name="Etikett Radius"/>
          <p:cNvSpPr txBox="1"/>
          <p:nvPr/>
        </p:nvSpPr>
        <p:spPr>
          <a:xfrm>
            <a:off x="6217920" y="210312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B1340"/>
                </a:solidFill>
              </a:rPr>
              <a:t>Radius</a:t>
            </a:r>
            <a:endParaRPr lang="en-US" sz="1600" dirty="0"/>
          </a:p>
        </p:txBody>
      </p:sp>
      <p:sp>
        <p:nvSpPr>
          <p:cNvPr id="10" name="Kort omkrets"/>
          <p:cNvSpPr/>
          <p:nvPr/>
        </p:nvSpPr>
        <p:spPr>
          <a:xfrm>
            <a:off x="3657600" y="2971800"/>
            <a:ext cx="4846320" cy="1737360"/>
          </a:xfrm>
          <a:prstGeom prst="roundRect">
            <a:avLst>
              <a:gd name="adj" fmla="val 7895"/>
            </a:avLst>
          </a:prstGeom>
          <a:solidFill>
            <a:srgbClr val="1B1340"/>
          </a:solidFill>
          <a:ln/>
        </p:spPr>
      </p:sp>
      <p:sp>
        <p:nvSpPr>
          <p:cNvPr id="11" name="Etikett omkrets"/>
          <p:cNvSpPr txBox="1"/>
          <p:nvPr/>
        </p:nvSpPr>
        <p:spPr>
          <a:xfrm>
            <a:off x="3931920" y="3108960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4B400"/>
                </a:solidFill>
              </a:rPr>
              <a:t>Omkrets</a:t>
            </a:r>
            <a:endParaRPr lang="en-US" sz="1600" dirty="0"/>
          </a:p>
        </p:txBody>
      </p:sp>
      <p:sp>
        <p:nvSpPr>
          <p:cNvPr id="12" name="Omkrets"/>
          <p:cNvSpPr txBox="1"/>
          <p:nvPr/>
        </p:nvSpPr>
        <p:spPr>
          <a:xfrm>
            <a:off x="3931920" y="3566160"/>
            <a:ext cx="4297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π · d = 3,14 · 50 = 157 m</a:t>
            </a: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4A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Åpningstider</a:t>
            </a:r>
            <a:endParaRPr lang="en-US" sz="3600" dirty="0"/>
          </a:p>
        </p:txBody>
      </p:sp>
      <p:sp>
        <p:nvSpPr>
          <p:cNvPr id="3" name="Kort Hverdager"/>
          <p:cNvSpPr/>
          <p:nvPr/>
        </p:nvSpPr>
        <p:spPr>
          <a:xfrm>
            <a:off x="548640" y="1280160"/>
            <a:ext cx="2560320" cy="1920240"/>
          </a:xfrm>
          <a:prstGeom prst="roundRect">
            <a:avLst>
              <a:gd name="adj" fmla="val 7143"/>
            </a:avLst>
          </a:prstGeom>
          <a:solidFill>
            <a:srgbClr val="F3F1FA"/>
          </a:solidFill>
          <a:ln/>
        </p:spPr>
      </p:sp>
      <p:sp>
        <p:nvSpPr>
          <p:cNvPr id="4" name="Dag Hverdager"/>
          <p:cNvSpPr txBox="1"/>
          <p:nvPr/>
        </p:nvSpPr>
        <p:spPr>
          <a:xfrm>
            <a:off x="548640" y="137160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1340"/>
                </a:solidFill>
              </a:rPr>
              <a:t>Hverdager:</a:t>
            </a:r>
            <a:endParaRPr lang="en-US" sz="1800" dirty="0"/>
          </a:p>
        </p:txBody>
      </p:sp>
      <p:sp>
        <p:nvSpPr>
          <p:cNvPr id="5" name="Tid Hverdager"/>
          <p:cNvSpPr txBox="1"/>
          <p:nvPr/>
        </p:nvSpPr>
        <p:spPr>
          <a:xfrm>
            <a:off x="548640" y="182880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B1340"/>
                </a:solidFill>
              </a:rPr>
              <a:t>17:00–21:00</a:t>
            </a:r>
            <a:endParaRPr lang="en-US" sz="1600" dirty="0"/>
          </a:p>
        </p:txBody>
      </p:sp>
      <p:sp>
        <p:nvSpPr>
          <p:cNvPr id="6" name="Timer Hverdager"/>
          <p:cNvSpPr txBox="1"/>
          <p:nvPr/>
        </p:nvSpPr>
        <p:spPr>
          <a:xfrm>
            <a:off x="548640" y="237744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63946"/>
                </a:solidFill>
              </a:rPr>
              <a:t>= 4 timer</a:t>
            </a:r>
            <a:endParaRPr lang="en-US" sz="2800" dirty="0"/>
          </a:p>
        </p:txBody>
      </p:sp>
      <p:sp>
        <p:nvSpPr>
          <p:cNvPr id="7" name="Kort Lørdag"/>
          <p:cNvSpPr/>
          <p:nvPr/>
        </p:nvSpPr>
        <p:spPr>
          <a:xfrm>
            <a:off x="3291840" y="1280160"/>
            <a:ext cx="2560320" cy="1920240"/>
          </a:xfrm>
          <a:prstGeom prst="roundRect">
            <a:avLst>
              <a:gd name="adj" fmla="val 7143"/>
            </a:avLst>
          </a:prstGeom>
          <a:solidFill>
            <a:srgbClr val="F3F1FA"/>
          </a:solidFill>
          <a:ln/>
        </p:spPr>
      </p:sp>
      <p:sp>
        <p:nvSpPr>
          <p:cNvPr id="8" name="Dag Lørdag"/>
          <p:cNvSpPr txBox="1"/>
          <p:nvPr/>
        </p:nvSpPr>
        <p:spPr>
          <a:xfrm>
            <a:off x="3291840" y="137160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1340"/>
                </a:solidFill>
              </a:rPr>
              <a:t>Lørdag:</a:t>
            </a:r>
            <a:endParaRPr lang="en-US" sz="1800" dirty="0"/>
          </a:p>
        </p:txBody>
      </p:sp>
      <p:sp>
        <p:nvSpPr>
          <p:cNvPr id="9" name="Tid Lørdag"/>
          <p:cNvSpPr txBox="1"/>
          <p:nvPr/>
        </p:nvSpPr>
        <p:spPr>
          <a:xfrm>
            <a:off x="3291840" y="182880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B1340"/>
                </a:solidFill>
              </a:rPr>
              <a:t>12:00–22:00</a:t>
            </a:r>
            <a:endParaRPr lang="en-US" sz="1600" dirty="0"/>
          </a:p>
        </p:txBody>
      </p:sp>
      <p:sp>
        <p:nvSpPr>
          <p:cNvPr id="10" name="Timer Lørdag"/>
          <p:cNvSpPr txBox="1"/>
          <p:nvPr/>
        </p:nvSpPr>
        <p:spPr>
          <a:xfrm>
            <a:off x="3291840" y="237744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4B400"/>
                </a:solidFill>
              </a:rPr>
              <a:t>= 10 timer</a:t>
            </a:r>
            <a:endParaRPr lang="en-US" sz="2800" dirty="0"/>
          </a:p>
        </p:txBody>
      </p:sp>
      <p:sp>
        <p:nvSpPr>
          <p:cNvPr id="11" name="Kort Søndag"/>
          <p:cNvSpPr/>
          <p:nvPr/>
        </p:nvSpPr>
        <p:spPr>
          <a:xfrm>
            <a:off x="6035040" y="1280160"/>
            <a:ext cx="2560320" cy="1920240"/>
          </a:xfrm>
          <a:prstGeom prst="roundRect">
            <a:avLst>
              <a:gd name="adj" fmla="val 7143"/>
            </a:avLst>
          </a:prstGeom>
          <a:solidFill>
            <a:srgbClr val="F3F1FA"/>
          </a:solidFill>
          <a:ln/>
        </p:spPr>
      </p:sp>
      <p:sp>
        <p:nvSpPr>
          <p:cNvPr id="12" name="Dag Søndag"/>
          <p:cNvSpPr txBox="1"/>
          <p:nvPr/>
        </p:nvSpPr>
        <p:spPr>
          <a:xfrm>
            <a:off x="6035040" y="137160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1340"/>
                </a:solidFill>
              </a:rPr>
              <a:t>Søndag:</a:t>
            </a:r>
            <a:endParaRPr lang="en-US" sz="1800" dirty="0"/>
          </a:p>
        </p:txBody>
      </p:sp>
      <p:sp>
        <p:nvSpPr>
          <p:cNvPr id="13" name="Tid Søndag"/>
          <p:cNvSpPr txBox="1"/>
          <p:nvPr/>
        </p:nvSpPr>
        <p:spPr>
          <a:xfrm>
            <a:off x="6035040" y="182880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B1340"/>
                </a:solidFill>
              </a:rPr>
              <a:t>13:00–22:00</a:t>
            </a:r>
            <a:endParaRPr lang="en-US" sz="1600" dirty="0"/>
          </a:p>
        </p:txBody>
      </p:sp>
      <p:sp>
        <p:nvSpPr>
          <p:cNvPr id="14" name="Timer Søndag"/>
          <p:cNvSpPr txBox="1"/>
          <p:nvPr/>
        </p:nvSpPr>
        <p:spPr>
          <a:xfrm>
            <a:off x="6035040" y="237744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A9D8F"/>
                </a:solidFill>
              </a:rPr>
              <a:t>= 9 timer</a:t>
            </a:r>
            <a:endParaRPr lang="en-US" sz="2800" dirty="0"/>
          </a:p>
        </p:txBody>
      </p:sp>
      <p:sp>
        <p:nvSpPr>
          <p:cNvPr id="15" name="Kort uke"/>
          <p:cNvSpPr/>
          <p:nvPr/>
        </p:nvSpPr>
        <p:spPr>
          <a:xfrm>
            <a:off x="548640" y="3474720"/>
            <a:ext cx="8046720" cy="1005840"/>
          </a:xfrm>
          <a:prstGeom prst="roundRect">
            <a:avLst>
              <a:gd name="adj" fmla="val 13636"/>
            </a:avLst>
          </a:prstGeom>
          <a:solidFill>
            <a:srgbClr val="1B1340"/>
          </a:solidFill>
          <a:ln/>
        </p:spPr>
      </p:sp>
      <p:sp>
        <p:nvSpPr>
          <p:cNvPr id="16" name="Hele uka"/>
          <p:cNvSpPr txBox="1"/>
          <p:nvPr/>
        </p:nvSpPr>
        <p:spPr>
          <a:xfrm>
            <a:off x="548640" y="3474720"/>
            <a:ext cx="8046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4B400"/>
                </a:solidFill>
              </a:rPr>
              <a:t>Hele uka: </a:t>
            </a:r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5 · 4 + 10 + 9 = 39 time</a:t>
            </a: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4A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Priser</a:t>
            </a:r>
            <a:endParaRPr lang="en-US" sz="3600" dirty="0"/>
          </a:p>
        </p:txBody>
      </p:sp>
      <p:sp>
        <p:nvSpPr>
          <p:cNvPr id="3" name="Kort 1"/>
          <p:cNvSpPr/>
          <p:nvPr/>
        </p:nvSpPr>
        <p:spPr>
          <a:xfrm>
            <a:off x="548640" y="1280160"/>
            <a:ext cx="3931920" cy="1417320"/>
          </a:xfrm>
          <a:prstGeom prst="roundRect">
            <a:avLst>
              <a:gd name="adj" fmla="val 9677"/>
            </a:avLst>
          </a:prstGeom>
          <a:solidFill>
            <a:srgbClr val="8E44AD"/>
          </a:solidFill>
          <a:ln/>
        </p:spPr>
      </p:sp>
      <p:sp>
        <p:nvSpPr>
          <p:cNvPr id="4" name="Etikett 1"/>
          <p:cNvSpPr txBox="1"/>
          <p:nvPr/>
        </p:nvSpPr>
        <p:spPr>
          <a:xfrm>
            <a:off x="822960" y="141732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Enkeltbillett:</a:t>
            </a:r>
            <a:endParaRPr lang="en-US" sz="1600" dirty="0"/>
          </a:p>
        </p:txBody>
      </p:sp>
      <p:sp>
        <p:nvSpPr>
          <p:cNvPr id="5" name="Verdi 1"/>
          <p:cNvSpPr txBox="1"/>
          <p:nvPr/>
        </p:nvSpPr>
        <p:spPr>
          <a:xfrm>
            <a:off x="822960" y="1874520"/>
            <a:ext cx="3383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45 kr</a:t>
            </a:r>
            <a:endParaRPr lang="en-US" sz="2600" dirty="0"/>
          </a:p>
        </p:txBody>
      </p:sp>
      <p:sp>
        <p:nvSpPr>
          <p:cNvPr id="6" name="Kort 2"/>
          <p:cNvSpPr/>
          <p:nvPr/>
        </p:nvSpPr>
        <p:spPr>
          <a:xfrm>
            <a:off x="4663440" y="1280160"/>
            <a:ext cx="3931920" cy="1417320"/>
          </a:xfrm>
          <a:prstGeom prst="roundRect">
            <a:avLst>
              <a:gd name="adj" fmla="val 9677"/>
            </a:avLst>
          </a:prstGeom>
          <a:solidFill>
            <a:srgbClr val="3A6EA5"/>
          </a:solidFill>
          <a:ln/>
        </p:spPr>
      </p:sp>
      <p:sp>
        <p:nvSpPr>
          <p:cNvPr id="7" name="Etikett 2"/>
          <p:cNvSpPr txBox="1"/>
          <p:nvPr/>
        </p:nvSpPr>
        <p:spPr>
          <a:xfrm>
            <a:off x="4937760" y="141732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Rabatthefte:</a:t>
            </a:r>
            <a:endParaRPr lang="en-US" sz="1600" dirty="0"/>
          </a:p>
        </p:txBody>
      </p:sp>
      <p:sp>
        <p:nvSpPr>
          <p:cNvPr id="8" name="Verdi 2"/>
          <p:cNvSpPr txBox="1"/>
          <p:nvPr/>
        </p:nvSpPr>
        <p:spPr>
          <a:xfrm>
            <a:off x="4937760" y="1874520"/>
            <a:ext cx="3383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7 billetter = 260 kr</a:t>
            </a:r>
            <a:endParaRPr lang="en-US" sz="2600" dirty="0"/>
          </a:p>
        </p:txBody>
      </p:sp>
      <p:sp>
        <p:nvSpPr>
          <p:cNvPr id="9" name="Kort 3"/>
          <p:cNvSpPr/>
          <p:nvPr/>
        </p:nvSpPr>
        <p:spPr>
          <a:xfrm>
            <a:off x="548640" y="2926080"/>
            <a:ext cx="3931920" cy="1417320"/>
          </a:xfrm>
          <a:prstGeom prst="roundRect">
            <a:avLst>
              <a:gd name="adj" fmla="val 9677"/>
            </a:avLst>
          </a:prstGeom>
          <a:solidFill>
            <a:srgbClr val="2A9D8F"/>
          </a:solidFill>
          <a:ln/>
        </p:spPr>
      </p:sp>
      <p:sp>
        <p:nvSpPr>
          <p:cNvPr id="10" name="Etikett 3"/>
          <p:cNvSpPr txBox="1"/>
          <p:nvPr/>
        </p:nvSpPr>
        <p:spPr>
          <a:xfrm>
            <a:off x="822960" y="306324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Pris per billett i heftet:</a:t>
            </a:r>
            <a:endParaRPr lang="en-US" sz="1600" dirty="0"/>
          </a:p>
        </p:txBody>
      </p:sp>
      <p:sp>
        <p:nvSpPr>
          <p:cNvPr id="11" name="Verdi 3"/>
          <p:cNvSpPr txBox="1"/>
          <p:nvPr/>
        </p:nvSpPr>
        <p:spPr>
          <a:xfrm>
            <a:off x="822960" y="3520440"/>
            <a:ext cx="3383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260 : 7 ≈ 37 kr</a:t>
            </a:r>
            <a:endParaRPr lang="en-US" sz="2600" dirty="0"/>
          </a:p>
        </p:txBody>
      </p:sp>
      <p:sp>
        <p:nvSpPr>
          <p:cNvPr id="12" name="Kort 4"/>
          <p:cNvSpPr/>
          <p:nvPr/>
        </p:nvSpPr>
        <p:spPr>
          <a:xfrm>
            <a:off x="4663440" y="2926080"/>
            <a:ext cx="3931920" cy="1417320"/>
          </a:xfrm>
          <a:prstGeom prst="roundRect">
            <a:avLst>
              <a:gd name="adj" fmla="val 9677"/>
            </a:avLst>
          </a:prstGeom>
          <a:solidFill>
            <a:srgbClr val="E63946"/>
          </a:solidFill>
          <a:ln/>
        </p:spPr>
      </p:sp>
      <p:sp>
        <p:nvSpPr>
          <p:cNvPr id="13" name="Etikett 4"/>
          <p:cNvSpPr txBox="1"/>
          <p:nvPr/>
        </p:nvSpPr>
        <p:spPr>
          <a:xfrm>
            <a:off x="4937760" y="306324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7 enkeltbilletter:</a:t>
            </a:r>
            <a:endParaRPr lang="en-US" sz="1600" dirty="0"/>
          </a:p>
        </p:txBody>
      </p:sp>
      <p:sp>
        <p:nvSpPr>
          <p:cNvPr id="14" name="Verdi 4"/>
          <p:cNvSpPr txBox="1"/>
          <p:nvPr/>
        </p:nvSpPr>
        <p:spPr>
          <a:xfrm>
            <a:off x="4937760" y="3520440"/>
            <a:ext cx="3383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7 · 45 = 315 kr</a:t>
            </a: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4A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ivoli">
  <a:themeElements>
    <a:clrScheme name="Tivoli">
      <a:dk1>
        <a:srgbClr val="1B1340"/>
      </a:dk1>
      <a:lt1>
        <a:srgbClr val="FFFFFF"/>
      </a:lt1>
      <a:dk2>
        <a:srgbClr val="2A1F5C"/>
      </a:dk2>
      <a:lt2>
        <a:srgbClr val="F3F1FA"/>
      </a:lt2>
      <a:accent1>
        <a:srgbClr val="E63946"/>
      </a:accent1>
      <a:accent2>
        <a:srgbClr val="F4B400"/>
      </a:accent2>
      <a:accent3>
        <a:srgbClr val="2A9D8F"/>
      </a:accent3>
      <a:accent4>
        <a:srgbClr val="3A6EA5"/>
      </a:accent4>
      <a:accent5>
        <a:srgbClr val="8E44AD"/>
      </a:accent5>
      <a:accent6>
        <a:srgbClr val="F77F00"/>
      </a:accent6>
      <a:hlink>
        <a:srgbClr val="3A6EA5"/>
      </a:hlink>
      <a:folHlink>
        <a:srgbClr val="8E44AD"/>
      </a:folHlink>
    </a:clrScheme>
    <a:fontScheme name="Tivoli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Matematikk</dc:title>
  <dc:subject>PptxGenJS Presentation</dc:subject>
  <dc:creator>Lucas Steen Jacobsen</dc:creator>
  <cp:lastModifiedBy>Lucas Steen Jacobsen</cp:lastModifiedBy>
  <cp:revision>1</cp:revision>
  <dcterms:created xsi:type="dcterms:W3CDTF">2026-10-29T10:23:32Z</dcterms:created>
  <dcterms:modified xsi:type="dcterms:W3CDTF">2026-10-29T10:23:32Z</dcterms:modified>
</cp:coreProperties>
</file>