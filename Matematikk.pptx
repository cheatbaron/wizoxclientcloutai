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Hei! Jeg skal snakke om matematikk på tivoli.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kommer tivoli til byen. Eieren har sagt at jeg får gratis inngang hvis jeg kan vise at det er mye matte på et tivolibesøk.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kommer tivoli til byen. Eieren har sagt at jeg får gratis inngang hvis jeg kan vise at det er mye matte på et tivolibesøk. Mange tenker at tivoli bare er gøy, men det er faktisk matte overalt. Jeg skal snakke om prisene, lykkehjulet og pariserhjulet.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Lykkehjulet har 12 felt. Det er 4 farger: rød, blå, gul og grønn. Hver farge har 3 felt, og alle feltene er like store.
For å finne sannsynligheten tar jeg antall gunstige utfall og deler på antall mulige utfall.
Hvis jeg vil ha rød, er det 3 felt som er røde. Det er de gunstige utfallene.
Hjulet har 12 felt til sammen. Det er de mulige utfallene.
Da blir sjansen for rød 3 av 12. Det er det samme som 1 av 4, altså 25 prosent.
Alle fargene har 3 felt, så det er like stor sjanse for alle fargene.
Sjansen for å ikke få rød er 9 av 12. Det er det samme som 3 av 4, altså 75 prosent.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Pariserhjulet er rundt som en sirkel som går rundt.
Diameter er bredden tvers igjennom hjulet. Det er 50 meter.
Radius er fra midten av hjulet og ut til kanten. Det er halvparten av 50, altså 25 meter.
Omkrets er lengden rundt hjulet. Formelen er pi ganger diameter. 3,14 ganger 50 er 157 meter. Det er nesten to og en halv gang lengden av en fotballbane på en runde.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Arket sier ikke når tivoliet stenger, så jeg har valgt det selv. På hverdager stenger det klokka 21, og i helgen stenger det klokka 22.
På hverdager åpner det klokka 17. Fra 17 til 21 er det 4 timer.
På lørdag åpner det klokka 12. Fra 12 til 22 er det 10 timer.
På søndag åpner det klokka 13. Fra 13 til 22 er det 9 timer.
Det er 5 hverdager, så jeg ganger 4 timer med 5. Det blir 20 timer. Så legger jeg til lørdag og søndag. 20 pluss 10 pluss 9 blir 39 timer.
Tivoliet er åpent 39 timer i uka.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vanlig billett koster 45 kroner.
Et rabatthefte har 7 billetter og koster 260 kroner.
Hvis jeg deler 260 på 7, blir det ca. 37 kroner per billett. Det er billigere enn en vanlig billett.
Kjøper jeg 7 vanlige billetter, koster det 7 ganger 45, som er 315 kroner.
Med heftet sparer jeg 315 minus 260, altså 55 kroner.
Heftet lønner seg hvis man skal ta 7 turer eller 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Tenk deg at en familie på fire, to voksne og to barn, skal ta sju turer hver.
Da trenger de fire rabatthefter, ett til hver person.
Fire hefter koster fire ganger 260, altså 1040 kroner.
Hvis de hadde kjøpt enkeltbilletter, ville det kostet fire ganger sju ganger 45, altså 1260 kroner.
Familien sparer 1260 minus 1040, altså 220 kroner ved å bruke rabattheftene.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Jeg har vist at det er mye matte på tivoli.
Jeg har sett på priser og rabatter, det er tall og algebra.
Jeg har regnet sannsynlighet på lykkehjulet.
Og jeg har brukt geometri til å finne omkretsen og radiusen på pariserhjulet.
Derfor mener jeg at jeg har klart utfordringen, og at jeg fortjener gratis inngang!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er kildene jeg har brukt i presentasjonen. Oppgavearket fra læreren, og lærebokas formler for sannsynlighet og geometri.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ork">
    <p:bg>
      <p:bgPr>
        <a:solidFill>
          <a:srgbClr val="1B134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097280"/>
          </a:xfrm>
          <a:prstGeom prst="rect">
            <a:avLst/>
          </a:prstGeom>
          <a:noFill/>
          <a:ln/>
        </p:spPr>
        <p:txBody>
          <a:bodyPr wrap="square" rtlCol="0"/>
          <a:lstStyle>
            <a:lvl1pPr algn="ctr" indent="0" marL="0">
              <a:buNone/>
              <a:defRPr lang="en-US" sz="5400" b="1" dirty="0">
                <a:solidFill>
                  <a:srgbClr val="FFFFFF"/>
                </a:solidFill>
              </a:defRPr>
            </a:lvl1pPr>
          </a:lstStyle>
          <a:p>
            <a:pPr algn="ctr"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ys">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rtlCol="0"/>
          <a:lstStyle>
            <a:lvl1pPr indent="0" marL="0">
              <a:buNone/>
              <a:defRPr lang="en-US" sz="3600" b="1" dirty="0">
                <a:solidFill>
                  <a:srgbClr val="1B1340"/>
                </a:solidFill>
              </a:defRPr>
            </a:lvl1pPr>
          </a:lstStyle>
          <a:p>
            <a:pPr indent="0" marL="0">
              <a:buNone/>
            </a:pPr>
            <a:endParaRPr lang="en-US" sz="3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097280"/>
          </a:xfrm>
          <a:prstGeom prst="rect">
            <a:avLst/>
          </a:prstGeom>
          <a:noFill/>
          <a:ln/>
        </p:spPr>
        <p:txBody>
          <a:bodyPr wrap="square" rtlCol="0" anchor="ctr"/>
          <a:lstStyle/>
          <a:p>
            <a:pPr algn="ctr" indent="0" marL="0">
              <a:buNone/>
            </a:pPr>
            <a:r>
              <a:rPr lang="en-US" sz="5400" b="1" dirty="0">
                <a:solidFill>
                  <a:srgbClr val="FFFFFF"/>
                </a:solidFill>
              </a:rPr>
              <a:t>Matematikk</a:t>
            </a:r>
            <a:endParaRPr lang="en-US" sz="5400" dirty="0"/>
          </a:p>
        </p:txBody>
      </p:sp>
      <p:sp>
        <p:nvSpPr>
          <p:cNvPr id="3" name="Text 1"/>
          <p:cNvSpPr txBox="1"/>
          <p:nvPr/>
        </p:nvSpPr>
        <p:spPr>
          <a:xfrm>
            <a:off x="548640" y="2834640"/>
            <a:ext cx="8046720" cy="548640"/>
          </a:xfrm>
          <a:prstGeom prst="rect">
            <a:avLst/>
          </a:prstGeom>
          <a:noFill/>
          <a:ln/>
        </p:spPr>
        <p:txBody>
          <a:bodyPr wrap="square" rtlCol="0" anchor="ctr"/>
          <a:lstStyle/>
          <a:p>
            <a:pPr algn="ctr" indent="0" marL="0">
              <a:buNone/>
            </a:pPr>
            <a:r>
              <a:rPr lang="en-US" sz="2800" dirty="0">
                <a:solidFill>
                  <a:srgbClr val="F4B400"/>
                </a:solidFill>
              </a:rPr>
              <a:t>Tivoli i byen</a:t>
            </a:r>
            <a:endParaRPr lang="en-US" sz="2800" dirty="0"/>
          </a:p>
        </p:txBody>
      </p:sp>
      <p:sp>
        <p:nvSpPr>
          <p:cNvPr id="4" name="Text 2"/>
          <p:cNvSpPr txBox="1"/>
          <p:nvPr/>
        </p:nvSpPr>
        <p:spPr>
          <a:xfrm>
            <a:off x="548640" y="3474720"/>
            <a:ext cx="8046720" cy="457200"/>
          </a:xfrm>
          <a:prstGeom prst="rect">
            <a:avLst/>
          </a:prstGeom>
          <a:noFill/>
          <a:ln/>
        </p:spPr>
        <p:txBody>
          <a:bodyPr wrap="square" rtlCol="0" anchor="ctr"/>
          <a:lstStyle/>
          <a:p>
            <a:pPr algn="ctr" indent="0" marL="0">
              <a:buNone/>
            </a:pPr>
            <a:r>
              <a:rPr lang="en-US" sz="1800" dirty="0">
                <a:solidFill>
                  <a:srgbClr val="8A84A8"/>
                </a:solidFill>
              </a:rPr>
              <a:t>Lucas Steen Jacobsen</a:t>
            </a:r>
            <a:endParaRPr lang="en-US" sz="1800" dirty="0"/>
          </a:p>
        </p:txBody>
      </p:sp>
      <p:sp>
        <p:nvSpPr>
          <p:cNvPr id="5" name="Shape 3"/>
          <p:cNvSpPr/>
          <p:nvPr/>
        </p:nvSpPr>
        <p:spPr>
          <a:xfrm>
            <a:off x="548640" y="4206240"/>
            <a:ext cx="128016" cy="128016"/>
          </a:xfrm>
          <a:prstGeom prst="ellipse">
            <a:avLst/>
          </a:prstGeom>
          <a:solidFill>
            <a:srgbClr val="E63946"/>
          </a:solidFill>
          <a:ln/>
        </p:spPr>
      </p:sp>
      <p:sp>
        <p:nvSpPr>
          <p:cNvPr id="6" name="Shape 4"/>
          <p:cNvSpPr/>
          <p:nvPr/>
        </p:nvSpPr>
        <p:spPr>
          <a:xfrm>
            <a:off x="1005840" y="4206240"/>
            <a:ext cx="128016" cy="128016"/>
          </a:xfrm>
          <a:prstGeom prst="ellipse">
            <a:avLst/>
          </a:prstGeom>
          <a:solidFill>
            <a:srgbClr val="F4B400"/>
          </a:solidFill>
          <a:ln/>
        </p:spPr>
      </p:sp>
      <p:sp>
        <p:nvSpPr>
          <p:cNvPr id="7" name="Shape 5"/>
          <p:cNvSpPr/>
          <p:nvPr/>
        </p:nvSpPr>
        <p:spPr>
          <a:xfrm>
            <a:off x="1463040" y="4206240"/>
            <a:ext cx="128016" cy="128016"/>
          </a:xfrm>
          <a:prstGeom prst="ellipse">
            <a:avLst/>
          </a:prstGeom>
          <a:solidFill>
            <a:srgbClr val="2A9D8F"/>
          </a:solidFill>
          <a:ln/>
        </p:spPr>
      </p:sp>
      <p:sp>
        <p:nvSpPr>
          <p:cNvPr id="8" name="Shape 6"/>
          <p:cNvSpPr/>
          <p:nvPr/>
        </p:nvSpPr>
        <p:spPr>
          <a:xfrm>
            <a:off x="1920240" y="4206240"/>
            <a:ext cx="128016" cy="128016"/>
          </a:xfrm>
          <a:prstGeom prst="ellipse">
            <a:avLst/>
          </a:prstGeom>
          <a:solidFill>
            <a:srgbClr val="3A6EA5"/>
          </a:solidFill>
          <a:ln/>
        </p:spPr>
      </p:sp>
      <p:sp>
        <p:nvSpPr>
          <p:cNvPr id="9" name="Shape 7"/>
          <p:cNvSpPr/>
          <p:nvPr/>
        </p:nvSpPr>
        <p:spPr>
          <a:xfrm>
            <a:off x="2377440" y="4206240"/>
            <a:ext cx="128016" cy="128016"/>
          </a:xfrm>
          <a:prstGeom prst="ellipse">
            <a:avLst/>
          </a:prstGeom>
          <a:solidFill>
            <a:srgbClr val="8E44AD"/>
          </a:solidFill>
          <a:ln/>
        </p:spPr>
      </p:sp>
      <p:sp>
        <p:nvSpPr>
          <p:cNvPr id="10" name="Shape 8"/>
          <p:cNvSpPr/>
          <p:nvPr/>
        </p:nvSpPr>
        <p:spPr>
          <a:xfrm>
            <a:off x="2834640" y="4206240"/>
            <a:ext cx="128016" cy="128016"/>
          </a:xfrm>
          <a:prstGeom prst="ellipse">
            <a:avLst/>
          </a:prstGeom>
          <a:solidFill>
            <a:srgbClr val="F77F00"/>
          </a:solidFill>
          <a:ln/>
        </p:spPr>
      </p:sp>
      <p:sp>
        <p:nvSpPr>
          <p:cNvPr id="11" name="Shape 9"/>
          <p:cNvSpPr/>
          <p:nvPr/>
        </p:nvSpPr>
        <p:spPr>
          <a:xfrm>
            <a:off x="3291840" y="4206240"/>
            <a:ext cx="128016" cy="128016"/>
          </a:xfrm>
          <a:prstGeom prst="ellipse">
            <a:avLst/>
          </a:prstGeom>
          <a:solidFill>
            <a:srgbClr val="E63946"/>
          </a:solidFill>
          <a:ln/>
        </p:spPr>
      </p:sp>
      <p:sp>
        <p:nvSpPr>
          <p:cNvPr id="12" name="Shape 10"/>
          <p:cNvSpPr/>
          <p:nvPr/>
        </p:nvSpPr>
        <p:spPr>
          <a:xfrm>
            <a:off x="3749040" y="4206240"/>
            <a:ext cx="128016" cy="128016"/>
          </a:xfrm>
          <a:prstGeom prst="ellipse">
            <a:avLst/>
          </a:prstGeom>
          <a:solidFill>
            <a:srgbClr val="F4B400"/>
          </a:solidFill>
          <a:ln/>
        </p:spPr>
      </p:sp>
      <p:sp>
        <p:nvSpPr>
          <p:cNvPr id="13" name="Shape 11"/>
          <p:cNvSpPr/>
          <p:nvPr/>
        </p:nvSpPr>
        <p:spPr>
          <a:xfrm>
            <a:off x="4206240" y="4206240"/>
            <a:ext cx="128016" cy="128016"/>
          </a:xfrm>
          <a:prstGeom prst="ellipse">
            <a:avLst/>
          </a:prstGeom>
          <a:solidFill>
            <a:srgbClr val="2A9D8F"/>
          </a:solidFill>
          <a:ln/>
        </p:spPr>
      </p:sp>
      <p:sp>
        <p:nvSpPr>
          <p:cNvPr id="14" name="Shape 12"/>
          <p:cNvSpPr/>
          <p:nvPr/>
        </p:nvSpPr>
        <p:spPr>
          <a:xfrm>
            <a:off x="4663440" y="4206240"/>
            <a:ext cx="128016" cy="128016"/>
          </a:xfrm>
          <a:prstGeom prst="ellipse">
            <a:avLst/>
          </a:prstGeom>
          <a:solidFill>
            <a:srgbClr val="3A6EA5"/>
          </a:solidFill>
          <a:ln/>
        </p:spPr>
      </p:sp>
      <p:sp>
        <p:nvSpPr>
          <p:cNvPr id="15" name="Shape 13"/>
          <p:cNvSpPr/>
          <p:nvPr/>
        </p:nvSpPr>
        <p:spPr>
          <a:xfrm>
            <a:off x="5120640" y="4206240"/>
            <a:ext cx="128016" cy="128016"/>
          </a:xfrm>
          <a:prstGeom prst="ellipse">
            <a:avLst/>
          </a:prstGeom>
          <a:solidFill>
            <a:srgbClr val="8E44AD"/>
          </a:solidFill>
          <a:ln/>
        </p:spPr>
      </p:sp>
      <p:sp>
        <p:nvSpPr>
          <p:cNvPr id="16" name="Shape 14"/>
          <p:cNvSpPr/>
          <p:nvPr/>
        </p:nvSpPr>
        <p:spPr>
          <a:xfrm>
            <a:off x="5577840" y="4206240"/>
            <a:ext cx="128016" cy="128016"/>
          </a:xfrm>
          <a:prstGeom prst="ellipse">
            <a:avLst/>
          </a:prstGeom>
          <a:solidFill>
            <a:srgbClr val="F77F00"/>
          </a:solidFill>
          <a:ln/>
        </p:spPr>
      </p:sp>
      <p:sp>
        <p:nvSpPr>
          <p:cNvPr id="17" name="Shape 15"/>
          <p:cNvSpPr/>
          <p:nvPr/>
        </p:nvSpPr>
        <p:spPr>
          <a:xfrm>
            <a:off x="6035040" y="4206240"/>
            <a:ext cx="128016" cy="128016"/>
          </a:xfrm>
          <a:prstGeom prst="ellipse">
            <a:avLst/>
          </a:prstGeom>
          <a:solidFill>
            <a:srgbClr val="E63946"/>
          </a:solidFill>
          <a:ln/>
        </p:spPr>
      </p:sp>
      <p:sp>
        <p:nvSpPr>
          <p:cNvPr id="18" name="Shape 16"/>
          <p:cNvSpPr/>
          <p:nvPr/>
        </p:nvSpPr>
        <p:spPr>
          <a:xfrm>
            <a:off x="6492240" y="4206240"/>
            <a:ext cx="128016" cy="128016"/>
          </a:xfrm>
          <a:prstGeom prst="ellipse">
            <a:avLst/>
          </a:prstGeom>
          <a:solidFill>
            <a:srgbClr val="F4B400"/>
          </a:solidFill>
          <a:ln/>
        </p:spPr>
      </p:sp>
      <p:sp>
        <p:nvSpPr>
          <p:cNvPr id="19" name="Shape 17"/>
          <p:cNvSpPr/>
          <p:nvPr/>
        </p:nvSpPr>
        <p:spPr>
          <a:xfrm>
            <a:off x="6949440" y="4206240"/>
            <a:ext cx="128016" cy="128016"/>
          </a:xfrm>
          <a:prstGeom prst="ellipse">
            <a:avLst/>
          </a:prstGeom>
          <a:solidFill>
            <a:srgbClr val="2A9D8F"/>
          </a:solidFill>
          <a:ln/>
        </p:spPr>
      </p:sp>
      <p:sp>
        <p:nvSpPr>
          <p:cNvPr id="20" name="Shape 18"/>
          <p:cNvSpPr/>
          <p:nvPr/>
        </p:nvSpPr>
        <p:spPr>
          <a:xfrm>
            <a:off x="7406640" y="4206240"/>
            <a:ext cx="128016" cy="128016"/>
          </a:xfrm>
          <a:prstGeom prst="ellipse">
            <a:avLst/>
          </a:prstGeom>
          <a:solidFill>
            <a:srgbClr val="3A6EA5"/>
          </a:solidFill>
          <a:ln/>
        </p:spPr>
      </p:sp>
      <p:sp>
        <p:nvSpPr>
          <p:cNvPr id="21" name="Shape 19"/>
          <p:cNvSpPr/>
          <p:nvPr/>
        </p:nvSpPr>
        <p:spPr>
          <a:xfrm>
            <a:off x="7863840" y="4206240"/>
            <a:ext cx="128016" cy="128016"/>
          </a:xfrm>
          <a:prstGeom prst="ellipse">
            <a:avLst/>
          </a:prstGeom>
          <a:solidFill>
            <a:srgbClr val="8E44AD"/>
          </a:solidFill>
          <a:ln/>
        </p:spPr>
      </p:sp>
      <p:sp>
        <p:nvSpPr>
          <p:cNvPr id="22" name="Shape 20"/>
          <p:cNvSpPr/>
          <p:nvPr/>
        </p:nvSpPr>
        <p:spPr>
          <a:xfrm>
            <a:off x="8321040" y="4206240"/>
            <a:ext cx="128016" cy="128016"/>
          </a:xfrm>
          <a:prstGeom prst="ellipse">
            <a:avLst/>
          </a:prstGeom>
          <a:solidFill>
            <a:srgbClr val="F77F0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822960"/>
            <a:ext cx="8046720" cy="731520"/>
          </a:xfrm>
          <a:prstGeom prst="rect">
            <a:avLst/>
          </a:prstGeom>
          <a:noFill/>
          <a:ln/>
        </p:spPr>
        <p:txBody>
          <a:bodyPr wrap="square" rtlCol="0" anchor="ctr"/>
          <a:lstStyle/>
          <a:p>
            <a:pPr algn="ctr" indent="0" marL="0">
              <a:buNone/>
            </a:pPr>
            <a:r>
              <a:rPr lang="en-US" sz="4000" b="1" dirty="0">
                <a:solidFill>
                  <a:srgbClr val="FFFFFF"/>
                </a:solidFill>
              </a:rPr>
              <a:t>Problemstilling</a:t>
            </a:r>
            <a:endParaRPr lang="en-US" sz="4000" dirty="0"/>
          </a:p>
        </p:txBody>
      </p:sp>
      <p:sp>
        <p:nvSpPr>
          <p:cNvPr id="3" name="Shape 1"/>
          <p:cNvSpPr/>
          <p:nvPr/>
        </p:nvSpPr>
        <p:spPr>
          <a:xfrm>
            <a:off x="548640" y="1691640"/>
            <a:ext cx="128016" cy="128016"/>
          </a:xfrm>
          <a:prstGeom prst="ellipse">
            <a:avLst/>
          </a:prstGeom>
          <a:solidFill>
            <a:srgbClr val="E63946"/>
          </a:solidFill>
          <a:ln/>
        </p:spPr>
      </p:sp>
      <p:sp>
        <p:nvSpPr>
          <p:cNvPr id="4" name="Shape 2"/>
          <p:cNvSpPr/>
          <p:nvPr/>
        </p:nvSpPr>
        <p:spPr>
          <a:xfrm>
            <a:off x="1005840" y="1691640"/>
            <a:ext cx="128016" cy="128016"/>
          </a:xfrm>
          <a:prstGeom prst="ellipse">
            <a:avLst/>
          </a:prstGeom>
          <a:solidFill>
            <a:srgbClr val="F4B400"/>
          </a:solidFill>
          <a:ln/>
        </p:spPr>
      </p:sp>
      <p:sp>
        <p:nvSpPr>
          <p:cNvPr id="5" name="Shape 3"/>
          <p:cNvSpPr/>
          <p:nvPr/>
        </p:nvSpPr>
        <p:spPr>
          <a:xfrm>
            <a:off x="1463040" y="1691640"/>
            <a:ext cx="128016" cy="128016"/>
          </a:xfrm>
          <a:prstGeom prst="ellipse">
            <a:avLst/>
          </a:prstGeom>
          <a:solidFill>
            <a:srgbClr val="2A9D8F"/>
          </a:solidFill>
          <a:ln/>
        </p:spPr>
      </p:sp>
      <p:sp>
        <p:nvSpPr>
          <p:cNvPr id="6" name="Shape 4"/>
          <p:cNvSpPr/>
          <p:nvPr/>
        </p:nvSpPr>
        <p:spPr>
          <a:xfrm>
            <a:off x="1920240" y="1691640"/>
            <a:ext cx="128016" cy="128016"/>
          </a:xfrm>
          <a:prstGeom prst="ellipse">
            <a:avLst/>
          </a:prstGeom>
          <a:solidFill>
            <a:srgbClr val="3A6EA5"/>
          </a:solidFill>
          <a:ln/>
        </p:spPr>
      </p:sp>
      <p:sp>
        <p:nvSpPr>
          <p:cNvPr id="7" name="Shape 5"/>
          <p:cNvSpPr/>
          <p:nvPr/>
        </p:nvSpPr>
        <p:spPr>
          <a:xfrm>
            <a:off x="2377440" y="1691640"/>
            <a:ext cx="128016" cy="128016"/>
          </a:xfrm>
          <a:prstGeom prst="ellipse">
            <a:avLst/>
          </a:prstGeom>
          <a:solidFill>
            <a:srgbClr val="8E44AD"/>
          </a:solidFill>
          <a:ln/>
        </p:spPr>
      </p:sp>
      <p:sp>
        <p:nvSpPr>
          <p:cNvPr id="8" name="Shape 6"/>
          <p:cNvSpPr/>
          <p:nvPr/>
        </p:nvSpPr>
        <p:spPr>
          <a:xfrm>
            <a:off x="2834640" y="1691640"/>
            <a:ext cx="128016" cy="128016"/>
          </a:xfrm>
          <a:prstGeom prst="ellipse">
            <a:avLst/>
          </a:prstGeom>
          <a:solidFill>
            <a:srgbClr val="F77F00"/>
          </a:solidFill>
          <a:ln/>
        </p:spPr>
      </p:sp>
      <p:sp>
        <p:nvSpPr>
          <p:cNvPr id="9" name="Shape 7"/>
          <p:cNvSpPr/>
          <p:nvPr/>
        </p:nvSpPr>
        <p:spPr>
          <a:xfrm>
            <a:off x="3291840" y="1691640"/>
            <a:ext cx="128016" cy="128016"/>
          </a:xfrm>
          <a:prstGeom prst="ellipse">
            <a:avLst/>
          </a:prstGeom>
          <a:solidFill>
            <a:srgbClr val="E63946"/>
          </a:solidFill>
          <a:ln/>
        </p:spPr>
      </p:sp>
      <p:sp>
        <p:nvSpPr>
          <p:cNvPr id="10" name="Shape 8"/>
          <p:cNvSpPr/>
          <p:nvPr/>
        </p:nvSpPr>
        <p:spPr>
          <a:xfrm>
            <a:off x="3749040" y="1691640"/>
            <a:ext cx="128016" cy="128016"/>
          </a:xfrm>
          <a:prstGeom prst="ellipse">
            <a:avLst/>
          </a:prstGeom>
          <a:solidFill>
            <a:srgbClr val="F4B400"/>
          </a:solidFill>
          <a:ln/>
        </p:spPr>
      </p:sp>
      <p:sp>
        <p:nvSpPr>
          <p:cNvPr id="11" name="Shape 9"/>
          <p:cNvSpPr/>
          <p:nvPr/>
        </p:nvSpPr>
        <p:spPr>
          <a:xfrm>
            <a:off x="4206240" y="1691640"/>
            <a:ext cx="128016" cy="128016"/>
          </a:xfrm>
          <a:prstGeom prst="ellipse">
            <a:avLst/>
          </a:prstGeom>
          <a:solidFill>
            <a:srgbClr val="2A9D8F"/>
          </a:solidFill>
          <a:ln/>
        </p:spPr>
      </p:sp>
      <p:sp>
        <p:nvSpPr>
          <p:cNvPr id="12" name="Shape 10"/>
          <p:cNvSpPr/>
          <p:nvPr/>
        </p:nvSpPr>
        <p:spPr>
          <a:xfrm>
            <a:off x="4663440" y="1691640"/>
            <a:ext cx="128016" cy="128016"/>
          </a:xfrm>
          <a:prstGeom prst="ellipse">
            <a:avLst/>
          </a:prstGeom>
          <a:solidFill>
            <a:srgbClr val="3A6EA5"/>
          </a:solidFill>
          <a:ln/>
        </p:spPr>
      </p:sp>
      <p:sp>
        <p:nvSpPr>
          <p:cNvPr id="13" name="Shape 11"/>
          <p:cNvSpPr/>
          <p:nvPr/>
        </p:nvSpPr>
        <p:spPr>
          <a:xfrm>
            <a:off x="5120640" y="1691640"/>
            <a:ext cx="128016" cy="128016"/>
          </a:xfrm>
          <a:prstGeom prst="ellipse">
            <a:avLst/>
          </a:prstGeom>
          <a:solidFill>
            <a:srgbClr val="8E44AD"/>
          </a:solidFill>
          <a:ln/>
        </p:spPr>
      </p:sp>
      <p:sp>
        <p:nvSpPr>
          <p:cNvPr id="14" name="Shape 12"/>
          <p:cNvSpPr/>
          <p:nvPr/>
        </p:nvSpPr>
        <p:spPr>
          <a:xfrm>
            <a:off x="5577840" y="1691640"/>
            <a:ext cx="128016" cy="128016"/>
          </a:xfrm>
          <a:prstGeom prst="ellipse">
            <a:avLst/>
          </a:prstGeom>
          <a:solidFill>
            <a:srgbClr val="F77F00"/>
          </a:solidFill>
          <a:ln/>
        </p:spPr>
      </p:sp>
      <p:sp>
        <p:nvSpPr>
          <p:cNvPr id="15" name="Shape 13"/>
          <p:cNvSpPr/>
          <p:nvPr/>
        </p:nvSpPr>
        <p:spPr>
          <a:xfrm>
            <a:off x="6035040" y="1691640"/>
            <a:ext cx="128016" cy="128016"/>
          </a:xfrm>
          <a:prstGeom prst="ellipse">
            <a:avLst/>
          </a:prstGeom>
          <a:solidFill>
            <a:srgbClr val="E63946"/>
          </a:solidFill>
          <a:ln/>
        </p:spPr>
      </p:sp>
      <p:sp>
        <p:nvSpPr>
          <p:cNvPr id="16" name="Shape 14"/>
          <p:cNvSpPr/>
          <p:nvPr/>
        </p:nvSpPr>
        <p:spPr>
          <a:xfrm>
            <a:off x="6492240" y="1691640"/>
            <a:ext cx="128016" cy="128016"/>
          </a:xfrm>
          <a:prstGeom prst="ellipse">
            <a:avLst/>
          </a:prstGeom>
          <a:solidFill>
            <a:srgbClr val="F4B400"/>
          </a:solidFill>
          <a:ln/>
        </p:spPr>
      </p:sp>
      <p:sp>
        <p:nvSpPr>
          <p:cNvPr id="17" name="Shape 15"/>
          <p:cNvSpPr/>
          <p:nvPr/>
        </p:nvSpPr>
        <p:spPr>
          <a:xfrm>
            <a:off x="6949440" y="1691640"/>
            <a:ext cx="128016" cy="128016"/>
          </a:xfrm>
          <a:prstGeom prst="ellipse">
            <a:avLst/>
          </a:prstGeom>
          <a:solidFill>
            <a:srgbClr val="2A9D8F"/>
          </a:solidFill>
          <a:ln/>
        </p:spPr>
      </p:sp>
      <p:sp>
        <p:nvSpPr>
          <p:cNvPr id="18" name="Shape 16"/>
          <p:cNvSpPr/>
          <p:nvPr/>
        </p:nvSpPr>
        <p:spPr>
          <a:xfrm>
            <a:off x="7406640" y="1691640"/>
            <a:ext cx="128016" cy="128016"/>
          </a:xfrm>
          <a:prstGeom prst="ellipse">
            <a:avLst/>
          </a:prstGeom>
          <a:solidFill>
            <a:srgbClr val="3A6EA5"/>
          </a:solidFill>
          <a:ln/>
        </p:spPr>
      </p:sp>
      <p:sp>
        <p:nvSpPr>
          <p:cNvPr id="19" name="Shape 17"/>
          <p:cNvSpPr/>
          <p:nvPr/>
        </p:nvSpPr>
        <p:spPr>
          <a:xfrm>
            <a:off x="7863840" y="1691640"/>
            <a:ext cx="128016" cy="128016"/>
          </a:xfrm>
          <a:prstGeom prst="ellipse">
            <a:avLst/>
          </a:prstGeom>
          <a:solidFill>
            <a:srgbClr val="8E44AD"/>
          </a:solidFill>
          <a:ln/>
        </p:spPr>
      </p:sp>
      <p:sp>
        <p:nvSpPr>
          <p:cNvPr id="20" name="Shape 18"/>
          <p:cNvSpPr/>
          <p:nvPr/>
        </p:nvSpPr>
        <p:spPr>
          <a:xfrm>
            <a:off x="8321040" y="1691640"/>
            <a:ext cx="128016" cy="128016"/>
          </a:xfrm>
          <a:prstGeom prst="ellipse">
            <a:avLst/>
          </a:prstGeom>
          <a:solidFill>
            <a:srgbClr val="F77F00"/>
          </a:solidFill>
          <a:ln/>
        </p:spPr>
      </p:sp>
      <p:sp>
        <p:nvSpPr>
          <p:cNvPr id="21" name="Shape 19"/>
          <p:cNvSpPr/>
          <p:nvPr/>
        </p:nvSpPr>
        <p:spPr>
          <a:xfrm>
            <a:off x="914400" y="1874520"/>
            <a:ext cx="7315200" cy="1920240"/>
          </a:xfrm>
          <a:prstGeom prst="roundRect">
            <a:avLst>
              <a:gd name="adj" fmla="val 9524"/>
            </a:avLst>
          </a:prstGeom>
          <a:solidFill>
            <a:srgbClr val="2A1F5C"/>
          </a:solidFill>
          <a:ln w="25400">
            <a:solidFill>
              <a:srgbClr val="F4B400"/>
            </a:solidFill>
            <a:prstDash val="solid"/>
          </a:ln>
        </p:spPr>
      </p:sp>
      <p:sp>
        <p:nvSpPr>
          <p:cNvPr id="22" name="Text 20"/>
          <p:cNvSpPr txBox="1"/>
          <p:nvPr/>
        </p:nvSpPr>
        <p:spPr>
          <a:xfrm>
            <a:off x="1188720" y="1920240"/>
            <a:ext cx="6766560" cy="1828800"/>
          </a:xfrm>
          <a:prstGeom prst="rect">
            <a:avLst/>
          </a:prstGeom>
          <a:noFill/>
          <a:ln/>
        </p:spPr>
        <p:txBody>
          <a:bodyPr wrap="square" rtlCol="0" anchor="ctr"/>
          <a:lstStyle/>
          <a:p>
            <a:pPr algn="ctr" indent="0" marL="0">
              <a:lnSpc>
                <a:spcPct val="130000"/>
              </a:lnSpc>
              <a:buNone/>
            </a:pPr>
            <a:r>
              <a:rPr lang="en-US" sz="2200" dirty="0">
                <a:solidFill>
                  <a:srgbClr val="FFFFFF"/>
                </a:solidFill>
              </a:rPr>
              <a:t>Det kommer tivoli til byen! Eieren har lovet deg gratis inngang hvis du klarer å vise at det er mye matematikk i et tivolibesøk.</a:t>
            </a:r>
            <a:endParaRPr lang="en-US" sz="2200" dirty="0"/>
          </a:p>
        </p:txBody>
      </p:sp>
      <p:sp>
        <p:nvSpPr>
          <p:cNvPr id="23" name="Shape 21"/>
          <p:cNvSpPr/>
          <p:nvPr/>
        </p:nvSpPr>
        <p:spPr>
          <a:xfrm>
            <a:off x="548640" y="4114800"/>
            <a:ext cx="128016" cy="128016"/>
          </a:xfrm>
          <a:prstGeom prst="ellipse">
            <a:avLst/>
          </a:prstGeom>
          <a:solidFill>
            <a:srgbClr val="E63946"/>
          </a:solidFill>
          <a:ln/>
        </p:spPr>
      </p:sp>
      <p:sp>
        <p:nvSpPr>
          <p:cNvPr id="24" name="Shape 22"/>
          <p:cNvSpPr/>
          <p:nvPr/>
        </p:nvSpPr>
        <p:spPr>
          <a:xfrm>
            <a:off x="1005840" y="4114800"/>
            <a:ext cx="128016" cy="128016"/>
          </a:xfrm>
          <a:prstGeom prst="ellipse">
            <a:avLst/>
          </a:prstGeom>
          <a:solidFill>
            <a:srgbClr val="F4B400"/>
          </a:solidFill>
          <a:ln/>
        </p:spPr>
      </p:sp>
      <p:sp>
        <p:nvSpPr>
          <p:cNvPr id="25" name="Shape 23"/>
          <p:cNvSpPr/>
          <p:nvPr/>
        </p:nvSpPr>
        <p:spPr>
          <a:xfrm>
            <a:off x="1463040" y="4114800"/>
            <a:ext cx="128016" cy="128016"/>
          </a:xfrm>
          <a:prstGeom prst="ellipse">
            <a:avLst/>
          </a:prstGeom>
          <a:solidFill>
            <a:srgbClr val="2A9D8F"/>
          </a:solidFill>
          <a:ln/>
        </p:spPr>
      </p:sp>
      <p:sp>
        <p:nvSpPr>
          <p:cNvPr id="26" name="Shape 24"/>
          <p:cNvSpPr/>
          <p:nvPr/>
        </p:nvSpPr>
        <p:spPr>
          <a:xfrm>
            <a:off x="1920240" y="4114800"/>
            <a:ext cx="128016" cy="128016"/>
          </a:xfrm>
          <a:prstGeom prst="ellipse">
            <a:avLst/>
          </a:prstGeom>
          <a:solidFill>
            <a:srgbClr val="3A6EA5"/>
          </a:solidFill>
          <a:ln/>
        </p:spPr>
      </p:sp>
      <p:sp>
        <p:nvSpPr>
          <p:cNvPr id="27" name="Shape 25"/>
          <p:cNvSpPr/>
          <p:nvPr/>
        </p:nvSpPr>
        <p:spPr>
          <a:xfrm>
            <a:off x="2377440" y="4114800"/>
            <a:ext cx="128016" cy="128016"/>
          </a:xfrm>
          <a:prstGeom prst="ellipse">
            <a:avLst/>
          </a:prstGeom>
          <a:solidFill>
            <a:srgbClr val="8E44AD"/>
          </a:solidFill>
          <a:ln/>
        </p:spPr>
      </p:sp>
      <p:sp>
        <p:nvSpPr>
          <p:cNvPr id="28" name="Shape 26"/>
          <p:cNvSpPr/>
          <p:nvPr/>
        </p:nvSpPr>
        <p:spPr>
          <a:xfrm>
            <a:off x="2834640" y="4114800"/>
            <a:ext cx="128016" cy="128016"/>
          </a:xfrm>
          <a:prstGeom prst="ellipse">
            <a:avLst/>
          </a:prstGeom>
          <a:solidFill>
            <a:srgbClr val="F77F00"/>
          </a:solidFill>
          <a:ln/>
        </p:spPr>
      </p:sp>
      <p:sp>
        <p:nvSpPr>
          <p:cNvPr id="29" name="Shape 27"/>
          <p:cNvSpPr/>
          <p:nvPr/>
        </p:nvSpPr>
        <p:spPr>
          <a:xfrm>
            <a:off x="3291840" y="4114800"/>
            <a:ext cx="128016" cy="128016"/>
          </a:xfrm>
          <a:prstGeom prst="ellipse">
            <a:avLst/>
          </a:prstGeom>
          <a:solidFill>
            <a:srgbClr val="E63946"/>
          </a:solidFill>
          <a:ln/>
        </p:spPr>
      </p:sp>
      <p:sp>
        <p:nvSpPr>
          <p:cNvPr id="30" name="Shape 28"/>
          <p:cNvSpPr/>
          <p:nvPr/>
        </p:nvSpPr>
        <p:spPr>
          <a:xfrm>
            <a:off x="3749040" y="4114800"/>
            <a:ext cx="128016" cy="128016"/>
          </a:xfrm>
          <a:prstGeom prst="ellipse">
            <a:avLst/>
          </a:prstGeom>
          <a:solidFill>
            <a:srgbClr val="F4B400"/>
          </a:solidFill>
          <a:ln/>
        </p:spPr>
      </p:sp>
      <p:sp>
        <p:nvSpPr>
          <p:cNvPr id="31" name="Shape 29"/>
          <p:cNvSpPr/>
          <p:nvPr/>
        </p:nvSpPr>
        <p:spPr>
          <a:xfrm>
            <a:off x="4206240" y="4114800"/>
            <a:ext cx="128016" cy="128016"/>
          </a:xfrm>
          <a:prstGeom prst="ellipse">
            <a:avLst/>
          </a:prstGeom>
          <a:solidFill>
            <a:srgbClr val="2A9D8F"/>
          </a:solidFill>
          <a:ln/>
        </p:spPr>
      </p:sp>
      <p:sp>
        <p:nvSpPr>
          <p:cNvPr id="32" name="Shape 30"/>
          <p:cNvSpPr/>
          <p:nvPr/>
        </p:nvSpPr>
        <p:spPr>
          <a:xfrm>
            <a:off x="4663440" y="4114800"/>
            <a:ext cx="128016" cy="128016"/>
          </a:xfrm>
          <a:prstGeom prst="ellipse">
            <a:avLst/>
          </a:prstGeom>
          <a:solidFill>
            <a:srgbClr val="3A6EA5"/>
          </a:solidFill>
          <a:ln/>
        </p:spPr>
      </p:sp>
      <p:sp>
        <p:nvSpPr>
          <p:cNvPr id="33" name="Shape 31"/>
          <p:cNvSpPr/>
          <p:nvPr/>
        </p:nvSpPr>
        <p:spPr>
          <a:xfrm>
            <a:off x="5120640" y="4114800"/>
            <a:ext cx="128016" cy="128016"/>
          </a:xfrm>
          <a:prstGeom prst="ellipse">
            <a:avLst/>
          </a:prstGeom>
          <a:solidFill>
            <a:srgbClr val="8E44AD"/>
          </a:solidFill>
          <a:ln/>
        </p:spPr>
      </p:sp>
      <p:sp>
        <p:nvSpPr>
          <p:cNvPr id="34" name="Shape 32"/>
          <p:cNvSpPr/>
          <p:nvPr/>
        </p:nvSpPr>
        <p:spPr>
          <a:xfrm>
            <a:off x="5577840" y="4114800"/>
            <a:ext cx="128016" cy="128016"/>
          </a:xfrm>
          <a:prstGeom prst="ellipse">
            <a:avLst/>
          </a:prstGeom>
          <a:solidFill>
            <a:srgbClr val="F77F00"/>
          </a:solidFill>
          <a:ln/>
        </p:spPr>
      </p:sp>
      <p:sp>
        <p:nvSpPr>
          <p:cNvPr id="35" name="Shape 33"/>
          <p:cNvSpPr/>
          <p:nvPr/>
        </p:nvSpPr>
        <p:spPr>
          <a:xfrm>
            <a:off x="6035040" y="4114800"/>
            <a:ext cx="128016" cy="128016"/>
          </a:xfrm>
          <a:prstGeom prst="ellipse">
            <a:avLst/>
          </a:prstGeom>
          <a:solidFill>
            <a:srgbClr val="E63946"/>
          </a:solidFill>
          <a:ln/>
        </p:spPr>
      </p:sp>
      <p:sp>
        <p:nvSpPr>
          <p:cNvPr id="36" name="Shape 34"/>
          <p:cNvSpPr/>
          <p:nvPr/>
        </p:nvSpPr>
        <p:spPr>
          <a:xfrm>
            <a:off x="6492240" y="4114800"/>
            <a:ext cx="128016" cy="128016"/>
          </a:xfrm>
          <a:prstGeom prst="ellipse">
            <a:avLst/>
          </a:prstGeom>
          <a:solidFill>
            <a:srgbClr val="F4B400"/>
          </a:solidFill>
          <a:ln/>
        </p:spPr>
      </p:sp>
      <p:sp>
        <p:nvSpPr>
          <p:cNvPr id="37" name="Shape 35"/>
          <p:cNvSpPr/>
          <p:nvPr/>
        </p:nvSpPr>
        <p:spPr>
          <a:xfrm>
            <a:off x="6949440" y="4114800"/>
            <a:ext cx="128016" cy="128016"/>
          </a:xfrm>
          <a:prstGeom prst="ellipse">
            <a:avLst/>
          </a:prstGeom>
          <a:solidFill>
            <a:srgbClr val="2A9D8F"/>
          </a:solidFill>
          <a:ln/>
        </p:spPr>
      </p:sp>
      <p:sp>
        <p:nvSpPr>
          <p:cNvPr id="38" name="Shape 36"/>
          <p:cNvSpPr/>
          <p:nvPr/>
        </p:nvSpPr>
        <p:spPr>
          <a:xfrm>
            <a:off x="7406640" y="4114800"/>
            <a:ext cx="128016" cy="128016"/>
          </a:xfrm>
          <a:prstGeom prst="ellipse">
            <a:avLst/>
          </a:prstGeom>
          <a:solidFill>
            <a:srgbClr val="3A6EA5"/>
          </a:solidFill>
          <a:ln/>
        </p:spPr>
      </p:sp>
      <p:sp>
        <p:nvSpPr>
          <p:cNvPr id="39" name="Shape 37"/>
          <p:cNvSpPr/>
          <p:nvPr/>
        </p:nvSpPr>
        <p:spPr>
          <a:xfrm>
            <a:off x="7863840" y="4114800"/>
            <a:ext cx="128016" cy="128016"/>
          </a:xfrm>
          <a:prstGeom prst="ellipse">
            <a:avLst/>
          </a:prstGeom>
          <a:solidFill>
            <a:srgbClr val="8E44AD"/>
          </a:solidFill>
          <a:ln/>
        </p:spPr>
      </p:sp>
      <p:sp>
        <p:nvSpPr>
          <p:cNvPr id="40" name="Shape 38"/>
          <p:cNvSpPr/>
          <p:nvPr/>
        </p:nvSpPr>
        <p:spPr>
          <a:xfrm>
            <a:off x="8321040" y="4114800"/>
            <a:ext cx="128016" cy="128016"/>
          </a:xfrm>
          <a:prstGeom prst="ellipse">
            <a:avLst/>
          </a:prstGeom>
          <a:solidFill>
            <a:srgbClr val="F77F00"/>
          </a:solidFill>
          <a:ln/>
        </p:spPr>
      </p:sp>
      <p:sp>
        <p:nvSpPr>
          <p:cNvPr id="42" name="Text 0"/>
          <p:cNvSpPr/>
          <p:nvPr>
            <p:ph idx="100" type="title" hasCustomPrompt="1"/>
          </p:nvPr>
        </p:nvSpPr>
        <p:spPr>
          <a:xfrm>
            <a:off x="548640" y="1463040"/>
            <a:ext cx="8046720" cy="1097280"/>
          </a:xfrm>
          <a:prstGeom prst="rect">
            <a:avLst/>
          </a:prstGeom>
          <a:noFill/>
          <a:ln/>
        </p:spPr>
        <p:txBody>
          <a:bodyPr wrap="square" rtlCol="0" anchor="ctr"/>
          <a:lstStyle/>
          <a:p>
            <a:pPr algn="ctr" indent="0" marL="0">
              <a:buNone/>
            </a:pPr>
            <a:endParaRPr lang="en-US" sz="5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indent="0" marL="0">
              <a:buNone/>
            </a:pPr>
            <a:r>
              <a:rPr lang="en-US" sz="3600" b="1" dirty="0">
                <a:solidFill>
                  <a:srgbClr val="1B1340"/>
                </a:solidFill>
              </a:rPr>
              <a:t>Innledning</a:t>
            </a:r>
            <a:endParaRPr lang="en-US" sz="3600" dirty="0"/>
          </a:p>
        </p:txBody>
      </p:sp>
      <p:sp>
        <p:nvSpPr>
          <p:cNvPr id="3" name="Shape 1"/>
          <p:cNvSpPr/>
          <p:nvPr/>
        </p:nvSpPr>
        <p:spPr>
          <a:xfrm>
            <a:off x="548640" y="1051560"/>
            <a:ext cx="8046720" cy="54864"/>
          </a:xfrm>
          <a:prstGeom prst="rect">
            <a:avLst/>
          </a:prstGeom>
          <a:solidFill>
            <a:srgbClr val="F4B400"/>
          </a:solidFill>
          <a:ln/>
        </p:spPr>
      </p:sp>
      <p:sp>
        <p:nvSpPr>
          <p:cNvPr id="4" name="Shape 2"/>
          <p:cNvSpPr/>
          <p:nvPr/>
        </p:nvSpPr>
        <p:spPr>
          <a:xfrm>
            <a:off x="548640" y="1188720"/>
            <a:ext cx="8046720" cy="2286000"/>
          </a:xfrm>
          <a:prstGeom prst="roundRect">
            <a:avLst>
              <a:gd name="adj" fmla="val 6000"/>
            </a:avLst>
          </a:prstGeom>
          <a:solidFill>
            <a:srgbClr val="F3F1FA"/>
          </a:solidFill>
          <a:ln/>
        </p:spPr>
      </p:sp>
      <p:sp>
        <p:nvSpPr>
          <p:cNvPr id="5" name="Text 3"/>
          <p:cNvSpPr txBox="1"/>
          <p:nvPr/>
        </p:nvSpPr>
        <p:spPr>
          <a:xfrm>
            <a:off x="822960" y="1234440"/>
            <a:ext cx="7498080" cy="1097280"/>
          </a:xfrm>
          <a:prstGeom prst="rect">
            <a:avLst/>
          </a:prstGeom>
          <a:noFill/>
          <a:ln/>
        </p:spPr>
        <p:txBody>
          <a:bodyPr wrap="square" rtlCol="0" anchor="ctr"/>
          <a:lstStyle/>
          <a:p>
            <a:pPr indent="0" marL="0">
              <a:lnSpc>
                <a:spcPct val="120000"/>
              </a:lnSpc>
              <a:buNone/>
            </a:pPr>
            <a:r>
              <a:rPr lang="en-US" sz="1700" dirty="0">
                <a:solidFill>
                  <a:srgbClr val="1B1340"/>
                </a:solidFill>
              </a:rPr>
              <a:t>Det kommer tivoli til byen, og eieren har lovet gratis inngang hvis jeg kan vise at det er mye matte i et tivoli besøk. Mange tenker kanskje at tivoli bare handler om å ha det gøy, men det er matte overalt.</a:t>
            </a:r>
            <a:endParaRPr lang="en-US" sz="1700" dirty="0"/>
          </a:p>
        </p:txBody>
      </p:sp>
      <p:sp>
        <p:nvSpPr>
          <p:cNvPr id="6" name="Text 4"/>
          <p:cNvSpPr txBox="1"/>
          <p:nvPr/>
        </p:nvSpPr>
        <p:spPr>
          <a:xfrm>
            <a:off x="822960" y="2286000"/>
            <a:ext cx="7498080" cy="457200"/>
          </a:xfrm>
          <a:prstGeom prst="rect">
            <a:avLst/>
          </a:prstGeom>
          <a:noFill/>
          <a:ln/>
        </p:spPr>
        <p:txBody>
          <a:bodyPr wrap="square" rtlCol="0" anchor="ctr"/>
          <a:lstStyle/>
          <a:p>
            <a:pPr indent="0" marL="0">
              <a:buNone/>
            </a:pPr>
            <a:r>
              <a:rPr lang="en-US" sz="1700" b="1" dirty="0">
                <a:solidFill>
                  <a:srgbClr val="1B1340"/>
                </a:solidFill>
              </a:rPr>
              <a:t>I denne presentasjonen ser jeg på tre ting:</a:t>
            </a:r>
            <a:endParaRPr lang="en-US" sz="1700" dirty="0"/>
          </a:p>
        </p:txBody>
      </p:sp>
      <p:sp>
        <p:nvSpPr>
          <p:cNvPr id="7" name="Shape 5"/>
          <p:cNvSpPr/>
          <p:nvPr/>
        </p:nvSpPr>
        <p:spPr>
          <a:xfrm>
            <a:off x="548640" y="2926080"/>
            <a:ext cx="2651760" cy="1417320"/>
          </a:xfrm>
          <a:prstGeom prst="roundRect">
            <a:avLst>
              <a:gd name="adj" fmla="val 9677"/>
            </a:avLst>
          </a:prstGeom>
          <a:solidFill>
            <a:srgbClr val="E63946"/>
          </a:solidFill>
          <a:ln/>
        </p:spPr>
      </p:sp>
      <p:sp>
        <p:nvSpPr>
          <p:cNvPr id="8" name="Text 6"/>
          <p:cNvSpPr txBox="1"/>
          <p:nvPr/>
        </p:nvSpPr>
        <p:spPr>
          <a:xfrm>
            <a:off x="548640" y="2971800"/>
            <a:ext cx="2651760" cy="59436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9" name="Text 7"/>
          <p:cNvSpPr txBox="1"/>
          <p:nvPr/>
        </p:nvSpPr>
        <p:spPr>
          <a:xfrm>
            <a:off x="548640" y="3566160"/>
            <a:ext cx="2651760" cy="594360"/>
          </a:xfrm>
          <a:prstGeom prst="rect">
            <a:avLst/>
          </a:prstGeom>
          <a:noFill/>
          <a:ln/>
        </p:spPr>
        <p:txBody>
          <a:bodyPr wrap="square" rtlCol="0" anchor="ctr"/>
          <a:lstStyle/>
          <a:p>
            <a:pPr algn="ctr" indent="0" marL="0">
              <a:buNone/>
            </a:pPr>
            <a:r>
              <a:rPr lang="en-US" sz="1600" b="1" dirty="0">
                <a:solidFill>
                  <a:srgbClr val="FFFFFF"/>
                </a:solidFill>
              </a:rPr>
              <a:t>Priser og rabatter</a:t>
            </a:r>
            <a:endParaRPr lang="en-US" sz="1600" dirty="0"/>
          </a:p>
        </p:txBody>
      </p:sp>
      <p:sp>
        <p:nvSpPr>
          <p:cNvPr id="10" name="Shape 8"/>
          <p:cNvSpPr/>
          <p:nvPr/>
        </p:nvSpPr>
        <p:spPr>
          <a:xfrm>
            <a:off x="3383280" y="2926080"/>
            <a:ext cx="2651760" cy="1417320"/>
          </a:xfrm>
          <a:prstGeom prst="roundRect">
            <a:avLst>
              <a:gd name="adj" fmla="val 9677"/>
            </a:avLst>
          </a:prstGeom>
          <a:solidFill>
            <a:srgbClr val="F4B400"/>
          </a:solidFill>
          <a:ln/>
        </p:spPr>
      </p:sp>
      <p:sp>
        <p:nvSpPr>
          <p:cNvPr id="11" name="Text 9"/>
          <p:cNvSpPr txBox="1"/>
          <p:nvPr/>
        </p:nvSpPr>
        <p:spPr>
          <a:xfrm>
            <a:off x="3383280" y="2971800"/>
            <a:ext cx="2651760" cy="59436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2" name="Text 10"/>
          <p:cNvSpPr txBox="1"/>
          <p:nvPr/>
        </p:nvSpPr>
        <p:spPr>
          <a:xfrm>
            <a:off x="3383280" y="3566160"/>
            <a:ext cx="2651760" cy="594360"/>
          </a:xfrm>
          <a:prstGeom prst="rect">
            <a:avLst/>
          </a:prstGeom>
          <a:noFill/>
          <a:ln/>
        </p:spPr>
        <p:txBody>
          <a:bodyPr wrap="square" rtlCol="0" anchor="ctr"/>
          <a:lstStyle/>
          <a:p>
            <a:pPr algn="ctr" indent="0" marL="0">
              <a:buNone/>
            </a:pPr>
            <a:r>
              <a:rPr lang="en-US" sz="1600" b="1" dirty="0">
                <a:solidFill>
                  <a:srgbClr val="FFFFFF"/>
                </a:solidFill>
              </a:rPr>
              <a:t>Sannsynlighet</a:t>
            </a:r>
            <a:endParaRPr lang="en-US" sz="1600" dirty="0"/>
          </a:p>
        </p:txBody>
      </p:sp>
      <p:sp>
        <p:nvSpPr>
          <p:cNvPr id="13" name="Shape 11"/>
          <p:cNvSpPr/>
          <p:nvPr/>
        </p:nvSpPr>
        <p:spPr>
          <a:xfrm>
            <a:off x="6217920" y="2926080"/>
            <a:ext cx="2651760" cy="1417320"/>
          </a:xfrm>
          <a:prstGeom prst="roundRect">
            <a:avLst>
              <a:gd name="adj" fmla="val 9677"/>
            </a:avLst>
          </a:prstGeom>
          <a:solidFill>
            <a:srgbClr val="2A9D8F"/>
          </a:solidFill>
          <a:ln/>
        </p:spPr>
      </p:sp>
      <p:sp>
        <p:nvSpPr>
          <p:cNvPr id="14" name="Text 12"/>
          <p:cNvSpPr txBox="1"/>
          <p:nvPr/>
        </p:nvSpPr>
        <p:spPr>
          <a:xfrm>
            <a:off x="6217920" y="2971800"/>
            <a:ext cx="2651760" cy="59436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5" name="Text 13"/>
          <p:cNvSpPr txBox="1"/>
          <p:nvPr/>
        </p:nvSpPr>
        <p:spPr>
          <a:xfrm>
            <a:off x="6217920" y="3566160"/>
            <a:ext cx="2651760" cy="594360"/>
          </a:xfrm>
          <a:prstGeom prst="rect">
            <a:avLst/>
          </a:prstGeom>
          <a:noFill/>
          <a:ln/>
        </p:spPr>
        <p:txBody>
          <a:bodyPr wrap="square" rtlCol="0" anchor="ctr"/>
          <a:lstStyle/>
          <a:p>
            <a:pPr algn="ctr" indent="0" marL="0">
              <a:buNone/>
            </a:pPr>
            <a:r>
              <a:rPr lang="en-US" sz="1600" b="1" dirty="0">
                <a:solidFill>
                  <a:srgbClr val="FFFFFF"/>
                </a:solidFill>
              </a:rPr>
              <a:t>Geometri i hjulene</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indent="0" marL="0">
              <a:buNone/>
            </a:pPr>
            <a:r>
              <a:rPr lang="en-US" sz="3600" b="1" dirty="0">
                <a:solidFill>
                  <a:srgbClr val="1B1340"/>
                </a:solidFill>
              </a:rPr>
              <a:t>Lykkehjulet – Sannsynlighet</a:t>
            </a:r>
            <a:endParaRPr lang="en-US" sz="3600" dirty="0"/>
          </a:p>
        </p:txBody>
      </p:sp>
      <p:sp>
        <p:nvSpPr>
          <p:cNvPr id="3" name="Shape 1"/>
          <p:cNvSpPr/>
          <p:nvPr/>
        </p:nvSpPr>
        <p:spPr>
          <a:xfrm>
            <a:off x="548640" y="1051560"/>
            <a:ext cx="8046720" cy="54864"/>
          </a:xfrm>
          <a:prstGeom prst="rect">
            <a:avLst/>
          </a:prstGeom>
          <a:solidFill>
            <a:srgbClr val="E63946"/>
          </a:solidFill>
          <a:ln/>
        </p:spPr>
      </p:sp>
      <p:sp>
        <p:nvSpPr>
          <p:cNvPr id="4" name="Shape 2"/>
          <p:cNvSpPr/>
          <p:nvPr/>
        </p:nvSpPr>
        <p:spPr>
          <a:xfrm>
            <a:off x="548640" y="1234440"/>
            <a:ext cx="2560320" cy="822960"/>
          </a:xfrm>
          <a:prstGeom prst="roundRect">
            <a:avLst>
              <a:gd name="adj" fmla="val 13333"/>
            </a:avLst>
          </a:prstGeom>
          <a:solidFill>
            <a:srgbClr val="F3F1FA"/>
          </a:solidFill>
          <a:ln/>
        </p:spPr>
      </p:sp>
      <p:sp>
        <p:nvSpPr>
          <p:cNvPr id="5" name="Text 3"/>
          <p:cNvSpPr txBox="1"/>
          <p:nvPr/>
        </p:nvSpPr>
        <p:spPr>
          <a:xfrm>
            <a:off x="731520" y="1234440"/>
            <a:ext cx="822960" cy="822960"/>
          </a:xfrm>
          <a:prstGeom prst="rect">
            <a:avLst/>
          </a:prstGeom>
          <a:noFill/>
          <a:ln/>
        </p:spPr>
        <p:txBody>
          <a:bodyPr wrap="square" rtlCol="0" anchor="ctr"/>
          <a:lstStyle/>
          <a:p>
            <a:pPr algn="ctr" indent="0" marL="0">
              <a:buNone/>
            </a:pPr>
            <a:r>
              <a:rPr lang="en-US" sz="3600" b="1" dirty="0">
                <a:solidFill>
                  <a:srgbClr val="E63946"/>
                </a:solidFill>
              </a:rPr>
              <a:t>12</a:t>
            </a:r>
            <a:endParaRPr lang="en-US" sz="3600" dirty="0"/>
          </a:p>
        </p:txBody>
      </p:sp>
      <p:sp>
        <p:nvSpPr>
          <p:cNvPr id="6" name="Text 4"/>
          <p:cNvSpPr txBox="1"/>
          <p:nvPr/>
        </p:nvSpPr>
        <p:spPr>
          <a:xfrm>
            <a:off x="1600200" y="1234440"/>
            <a:ext cx="1417320" cy="822960"/>
          </a:xfrm>
          <a:prstGeom prst="rect">
            <a:avLst/>
          </a:prstGeom>
          <a:noFill/>
          <a:ln/>
        </p:spPr>
        <p:txBody>
          <a:bodyPr wrap="square" rtlCol="0" anchor="ctr"/>
          <a:lstStyle/>
          <a:p>
            <a:pPr indent="0" marL="0">
              <a:buNone/>
            </a:pPr>
            <a:r>
              <a:rPr lang="en-US" sz="1400" dirty="0">
                <a:solidFill>
                  <a:srgbClr val="1B1340"/>
                </a:solidFill>
              </a:rPr>
              <a:t>felt totalt</a:t>
            </a:r>
            <a:endParaRPr lang="en-US" sz="1400" dirty="0"/>
          </a:p>
        </p:txBody>
      </p:sp>
      <p:sp>
        <p:nvSpPr>
          <p:cNvPr id="7" name="Shape 5"/>
          <p:cNvSpPr/>
          <p:nvPr/>
        </p:nvSpPr>
        <p:spPr>
          <a:xfrm>
            <a:off x="548640" y="2240280"/>
            <a:ext cx="2560320" cy="822960"/>
          </a:xfrm>
          <a:prstGeom prst="roundRect">
            <a:avLst>
              <a:gd name="adj" fmla="val 13333"/>
            </a:avLst>
          </a:prstGeom>
          <a:solidFill>
            <a:srgbClr val="F3F1FA"/>
          </a:solidFill>
          <a:ln/>
        </p:spPr>
      </p:sp>
      <p:sp>
        <p:nvSpPr>
          <p:cNvPr id="8" name="Text 6"/>
          <p:cNvSpPr txBox="1"/>
          <p:nvPr/>
        </p:nvSpPr>
        <p:spPr>
          <a:xfrm>
            <a:off x="731520" y="2240280"/>
            <a:ext cx="822960" cy="822960"/>
          </a:xfrm>
          <a:prstGeom prst="rect">
            <a:avLst/>
          </a:prstGeom>
          <a:noFill/>
          <a:ln/>
        </p:spPr>
        <p:txBody>
          <a:bodyPr wrap="square" rtlCol="0" anchor="ctr"/>
          <a:lstStyle/>
          <a:p>
            <a:pPr algn="ctr" indent="0" marL="0">
              <a:buNone/>
            </a:pPr>
            <a:r>
              <a:rPr lang="en-US" sz="3600" b="1" dirty="0">
                <a:solidFill>
                  <a:srgbClr val="E63946"/>
                </a:solidFill>
              </a:rPr>
              <a:t>4</a:t>
            </a:r>
            <a:endParaRPr lang="en-US" sz="3600" dirty="0"/>
          </a:p>
        </p:txBody>
      </p:sp>
      <p:sp>
        <p:nvSpPr>
          <p:cNvPr id="9" name="Text 7"/>
          <p:cNvSpPr txBox="1"/>
          <p:nvPr/>
        </p:nvSpPr>
        <p:spPr>
          <a:xfrm>
            <a:off x="1600200" y="2240280"/>
            <a:ext cx="1417320" cy="822960"/>
          </a:xfrm>
          <a:prstGeom prst="rect">
            <a:avLst/>
          </a:prstGeom>
          <a:noFill/>
          <a:ln/>
        </p:spPr>
        <p:txBody>
          <a:bodyPr wrap="square" rtlCol="0" anchor="ctr"/>
          <a:lstStyle/>
          <a:p>
            <a:pPr indent="0" marL="0">
              <a:buNone/>
            </a:pPr>
            <a:r>
              <a:rPr lang="en-US" sz="1400" dirty="0">
                <a:solidFill>
                  <a:srgbClr val="1B1340"/>
                </a:solidFill>
              </a:rPr>
              <a:t>farger</a:t>
            </a:r>
            <a:endParaRPr lang="en-US" sz="1400" dirty="0"/>
          </a:p>
        </p:txBody>
      </p:sp>
      <p:sp>
        <p:nvSpPr>
          <p:cNvPr id="10" name="Shape 8"/>
          <p:cNvSpPr/>
          <p:nvPr/>
        </p:nvSpPr>
        <p:spPr>
          <a:xfrm>
            <a:off x="548640" y="3246120"/>
            <a:ext cx="2560320" cy="822960"/>
          </a:xfrm>
          <a:prstGeom prst="roundRect">
            <a:avLst>
              <a:gd name="adj" fmla="val 13333"/>
            </a:avLst>
          </a:prstGeom>
          <a:solidFill>
            <a:srgbClr val="F3F1FA"/>
          </a:solidFill>
          <a:ln/>
        </p:spPr>
      </p:sp>
      <p:sp>
        <p:nvSpPr>
          <p:cNvPr id="11" name="Text 9"/>
          <p:cNvSpPr txBox="1"/>
          <p:nvPr/>
        </p:nvSpPr>
        <p:spPr>
          <a:xfrm>
            <a:off x="731520" y="3246120"/>
            <a:ext cx="822960" cy="822960"/>
          </a:xfrm>
          <a:prstGeom prst="rect">
            <a:avLst/>
          </a:prstGeom>
          <a:noFill/>
          <a:ln/>
        </p:spPr>
        <p:txBody>
          <a:bodyPr wrap="square" rtlCol="0" anchor="ctr"/>
          <a:lstStyle/>
          <a:p>
            <a:pPr algn="ctr" indent="0" marL="0">
              <a:buNone/>
            </a:pPr>
            <a:r>
              <a:rPr lang="en-US" sz="3600" b="1" dirty="0">
                <a:solidFill>
                  <a:srgbClr val="E63946"/>
                </a:solidFill>
              </a:rPr>
              <a:t>3</a:t>
            </a:r>
            <a:endParaRPr lang="en-US" sz="3600" dirty="0"/>
          </a:p>
        </p:txBody>
      </p:sp>
      <p:sp>
        <p:nvSpPr>
          <p:cNvPr id="12" name="Text 10"/>
          <p:cNvSpPr txBox="1"/>
          <p:nvPr/>
        </p:nvSpPr>
        <p:spPr>
          <a:xfrm>
            <a:off x="1600200" y="3246120"/>
            <a:ext cx="1417320" cy="822960"/>
          </a:xfrm>
          <a:prstGeom prst="rect">
            <a:avLst/>
          </a:prstGeom>
          <a:noFill/>
          <a:ln/>
        </p:spPr>
        <p:txBody>
          <a:bodyPr wrap="square" rtlCol="0" anchor="ctr"/>
          <a:lstStyle/>
          <a:p>
            <a:pPr indent="0" marL="0">
              <a:buNone/>
            </a:pPr>
            <a:r>
              <a:rPr lang="en-US" sz="1400" dirty="0">
                <a:solidFill>
                  <a:srgbClr val="1B1340"/>
                </a:solidFill>
              </a:rPr>
              <a:t>felt per farge</a:t>
            </a:r>
            <a:endParaRPr lang="en-US" sz="1400" dirty="0"/>
          </a:p>
        </p:txBody>
      </p:sp>
      <p:sp>
        <p:nvSpPr>
          <p:cNvPr id="13" name="Shape 11"/>
          <p:cNvSpPr/>
          <p:nvPr/>
        </p:nvSpPr>
        <p:spPr>
          <a:xfrm>
            <a:off x="548640" y="4206240"/>
            <a:ext cx="2560320" cy="777240"/>
          </a:xfrm>
          <a:prstGeom prst="roundRect">
            <a:avLst>
              <a:gd name="adj" fmla="val 14118"/>
            </a:avLst>
          </a:prstGeom>
          <a:solidFill>
            <a:srgbClr val="1B1340"/>
          </a:solidFill>
          <a:ln/>
        </p:spPr>
      </p:sp>
      <p:sp>
        <p:nvSpPr>
          <p:cNvPr id="14" name="Text 12"/>
          <p:cNvSpPr txBox="1"/>
          <p:nvPr/>
        </p:nvSpPr>
        <p:spPr>
          <a:xfrm>
            <a:off x="594360" y="4251960"/>
            <a:ext cx="2468880" cy="685800"/>
          </a:xfrm>
          <a:prstGeom prst="rect">
            <a:avLst/>
          </a:prstGeom>
          <a:noFill/>
          <a:ln/>
        </p:spPr>
        <p:txBody>
          <a:bodyPr wrap="square" rtlCol="0" anchor="ctr"/>
          <a:lstStyle/>
          <a:p>
            <a:pPr algn="ctr" indent="0" marL="0">
              <a:buNone/>
            </a:pPr>
            <a:r>
              <a:rPr lang="en-US" sz="2200" b="1" dirty="0">
                <a:solidFill>
                  <a:srgbClr val="F4B400"/>
                </a:solidFill>
              </a:rPr>
              <a:t>P = </a:t>
            </a:r>
            <a:pPr algn="ctr" indent="0" marL="0">
              <a:buNone/>
            </a:pPr>
            <a:r>
              <a:rPr lang="en-US" sz="2200" b="1" dirty="0">
                <a:solidFill>
                  <a:srgbClr val="FFFFFF"/>
                </a:solidFill>
              </a:rPr>
              <a:t>3/12 = 25%</a:t>
            </a:r>
            <a:endParaRPr lang="en-US" sz="2200" dirty="0"/>
          </a:p>
        </p:txBody>
      </p:sp>
      <p:pic>
        <p:nvPicPr>
          <p:cNvPr id="15" name="Image 0" descr="lykkehjul.jpg">    </p:cNvPr>
          <p:cNvPicPr>
            <a:picLocks noChangeAspect="1"/>
          </p:cNvPicPr>
          <p:nvPr/>
        </p:nvPicPr>
        <p:blipFill>
          <a:blip r:embed="rId1"/>
          <a:srcRect l="0" r="0" t="0" b="0"/>
          <a:stretch/>
        </p:blipFill>
        <p:spPr>
          <a:xfrm>
            <a:off x="3291840" y="1143000"/>
            <a:ext cx="2743200" cy="2743200"/>
          </a:xfrm>
          <a:prstGeom prst="rect">
            <a:avLst/>
          </a:prstGeom>
        </p:spPr>
      </p:pic>
      <p:sp>
        <p:nvSpPr>
          <p:cNvPr id="16" name="Shape 13"/>
          <p:cNvSpPr/>
          <p:nvPr/>
        </p:nvSpPr>
        <p:spPr>
          <a:xfrm>
            <a:off x="6217920" y="1143000"/>
            <a:ext cx="2377440" cy="3520440"/>
          </a:xfrm>
          <a:prstGeom prst="roundRect">
            <a:avLst>
              <a:gd name="adj" fmla="val 5769"/>
            </a:avLst>
          </a:prstGeom>
          <a:solidFill>
            <a:srgbClr val="F3F1FA"/>
          </a:solidFill>
          <a:ln/>
        </p:spPr>
      </p:sp>
      <p:sp>
        <p:nvSpPr>
          <p:cNvPr id="17" name="Text 14"/>
          <p:cNvSpPr txBox="1"/>
          <p:nvPr/>
        </p:nvSpPr>
        <p:spPr>
          <a:xfrm>
            <a:off x="6309360" y="1188720"/>
            <a:ext cx="2194560" cy="457200"/>
          </a:xfrm>
          <a:prstGeom prst="rect">
            <a:avLst/>
          </a:prstGeom>
          <a:noFill/>
          <a:ln/>
        </p:spPr>
        <p:txBody>
          <a:bodyPr wrap="square" rtlCol="0" anchor="ctr"/>
          <a:lstStyle/>
          <a:p>
            <a:pPr algn="ctr" indent="0" marL="0">
              <a:buNone/>
            </a:pPr>
            <a:r>
              <a:rPr lang="en-US" sz="1500" b="1" dirty="0">
                <a:solidFill>
                  <a:srgbClr val="E63946"/>
                </a:solidFill>
              </a:rPr>
              <a:t>Formel</a:t>
            </a:r>
            <a:endParaRPr lang="en-US" sz="1500" dirty="0"/>
          </a:p>
        </p:txBody>
      </p:sp>
      <p:sp>
        <p:nvSpPr>
          <p:cNvPr id="18" name="Text 15"/>
          <p:cNvSpPr txBox="1"/>
          <p:nvPr/>
        </p:nvSpPr>
        <p:spPr>
          <a:xfrm>
            <a:off x="6309360" y="1691640"/>
            <a:ext cx="2194560" cy="411480"/>
          </a:xfrm>
          <a:prstGeom prst="rect">
            <a:avLst/>
          </a:prstGeom>
          <a:noFill/>
          <a:ln/>
        </p:spPr>
        <p:txBody>
          <a:bodyPr wrap="square" rtlCol="0" anchor="ctr"/>
          <a:lstStyle/>
          <a:p>
            <a:pPr algn="ctr" indent="0" marL="0">
              <a:buNone/>
            </a:pPr>
            <a:r>
              <a:rPr lang="en-US" sz="1800" b="1" dirty="0">
                <a:solidFill>
                  <a:srgbClr val="1B1340"/>
                </a:solidFill>
              </a:rPr>
              <a:t>P =</a:t>
            </a:r>
            <a:endParaRPr lang="en-US" sz="1800" dirty="0"/>
          </a:p>
        </p:txBody>
      </p:sp>
      <p:sp>
        <p:nvSpPr>
          <p:cNvPr id="19" name="Text 16"/>
          <p:cNvSpPr txBox="1"/>
          <p:nvPr/>
        </p:nvSpPr>
        <p:spPr>
          <a:xfrm>
            <a:off x="6309360" y="2148840"/>
            <a:ext cx="2194560" cy="365760"/>
          </a:xfrm>
          <a:prstGeom prst="rect">
            <a:avLst/>
          </a:prstGeom>
          <a:noFill/>
          <a:ln/>
        </p:spPr>
        <p:txBody>
          <a:bodyPr wrap="square" rtlCol="0" anchor="ctr"/>
          <a:lstStyle/>
          <a:p>
            <a:pPr algn="ctr" indent="0" marL="0">
              <a:buNone/>
            </a:pPr>
            <a:r>
              <a:rPr lang="en-US" sz="1400" dirty="0">
                <a:solidFill>
                  <a:srgbClr val="E63946"/>
                </a:solidFill>
              </a:rPr>
              <a:t>gunstige utfall</a:t>
            </a:r>
            <a:endParaRPr lang="en-US" sz="1400" dirty="0"/>
          </a:p>
        </p:txBody>
      </p:sp>
      <p:sp>
        <p:nvSpPr>
          <p:cNvPr id="20" name="Shape 17"/>
          <p:cNvSpPr/>
          <p:nvPr/>
        </p:nvSpPr>
        <p:spPr>
          <a:xfrm>
            <a:off x="6492240" y="2560320"/>
            <a:ext cx="1828800" cy="36576"/>
          </a:xfrm>
          <a:prstGeom prst="rect">
            <a:avLst/>
          </a:prstGeom>
          <a:solidFill>
            <a:srgbClr val="1B1340"/>
          </a:solidFill>
          <a:ln/>
        </p:spPr>
      </p:sp>
      <p:sp>
        <p:nvSpPr>
          <p:cNvPr id="21" name="Text 18"/>
          <p:cNvSpPr txBox="1"/>
          <p:nvPr/>
        </p:nvSpPr>
        <p:spPr>
          <a:xfrm>
            <a:off x="6309360" y="2606040"/>
            <a:ext cx="2194560" cy="365760"/>
          </a:xfrm>
          <a:prstGeom prst="rect">
            <a:avLst/>
          </a:prstGeom>
          <a:noFill/>
          <a:ln/>
        </p:spPr>
        <p:txBody>
          <a:bodyPr wrap="square" rtlCol="0" anchor="ctr"/>
          <a:lstStyle/>
          <a:p>
            <a:pPr algn="ctr" indent="0" marL="0">
              <a:buNone/>
            </a:pPr>
            <a:r>
              <a:rPr lang="en-US" sz="1400" dirty="0">
                <a:solidFill>
                  <a:srgbClr val="3A6EA5"/>
                </a:solidFill>
              </a:rPr>
              <a:t>mulige utfall</a:t>
            </a:r>
            <a:endParaRPr lang="en-US" sz="1400" dirty="0"/>
          </a:p>
        </p:txBody>
      </p:sp>
      <p:sp>
        <p:nvSpPr>
          <p:cNvPr id="22" name="Text 19"/>
          <p:cNvSpPr txBox="1"/>
          <p:nvPr/>
        </p:nvSpPr>
        <p:spPr>
          <a:xfrm>
            <a:off x="6309360" y="3108960"/>
            <a:ext cx="822960" cy="411480"/>
          </a:xfrm>
          <a:prstGeom prst="rect">
            <a:avLst/>
          </a:prstGeom>
          <a:noFill/>
          <a:ln/>
        </p:spPr>
        <p:txBody>
          <a:bodyPr wrap="square" rtlCol="0" anchor="ctr"/>
          <a:lstStyle/>
          <a:p>
            <a:pPr indent="0" marL="0">
              <a:buNone/>
            </a:pPr>
            <a:r>
              <a:rPr lang="en-US" sz="1600" b="1" dirty="0">
                <a:solidFill>
                  <a:srgbClr val="1B1340"/>
                </a:solidFill>
              </a:rPr>
              <a:t>Rød:</a:t>
            </a:r>
            <a:endParaRPr lang="en-US" sz="1600" dirty="0"/>
          </a:p>
        </p:txBody>
      </p:sp>
      <p:sp>
        <p:nvSpPr>
          <p:cNvPr id="23" name="Text 20"/>
          <p:cNvSpPr txBox="1"/>
          <p:nvPr/>
        </p:nvSpPr>
        <p:spPr>
          <a:xfrm>
            <a:off x="7132320" y="3108960"/>
            <a:ext cx="1371600" cy="411480"/>
          </a:xfrm>
          <a:prstGeom prst="rect">
            <a:avLst/>
          </a:prstGeom>
          <a:noFill/>
          <a:ln/>
        </p:spPr>
        <p:txBody>
          <a:bodyPr wrap="square" rtlCol="0" anchor="ctr"/>
          <a:lstStyle/>
          <a:p>
            <a:pPr indent="0" marL="0">
              <a:buNone/>
            </a:pPr>
            <a:r>
              <a:rPr lang="en-US" sz="1600" b="1" dirty="0">
                <a:solidFill>
                  <a:srgbClr val="E63946"/>
                </a:solidFill>
              </a:rPr>
              <a:t>3/12 = 25%</a:t>
            </a:r>
            <a:endParaRPr lang="en-US" sz="1600" dirty="0"/>
          </a:p>
        </p:txBody>
      </p:sp>
      <p:sp>
        <p:nvSpPr>
          <p:cNvPr id="24" name="Text 21"/>
          <p:cNvSpPr txBox="1"/>
          <p:nvPr/>
        </p:nvSpPr>
        <p:spPr>
          <a:xfrm>
            <a:off x="6309360" y="3566160"/>
            <a:ext cx="1188720" cy="411480"/>
          </a:xfrm>
          <a:prstGeom prst="rect">
            <a:avLst/>
          </a:prstGeom>
          <a:noFill/>
          <a:ln/>
        </p:spPr>
        <p:txBody>
          <a:bodyPr wrap="square" rtlCol="0" anchor="ctr"/>
          <a:lstStyle/>
          <a:p>
            <a:pPr indent="0" marL="0">
              <a:buNone/>
            </a:pPr>
            <a:r>
              <a:rPr lang="en-US" sz="1600" b="1" dirty="0">
                <a:solidFill>
                  <a:srgbClr val="1B1340"/>
                </a:solidFill>
              </a:rPr>
              <a:t>Ikke rød:</a:t>
            </a:r>
            <a:endParaRPr lang="en-US" sz="1600" dirty="0"/>
          </a:p>
        </p:txBody>
      </p:sp>
      <p:sp>
        <p:nvSpPr>
          <p:cNvPr id="25" name="Text 22"/>
          <p:cNvSpPr txBox="1"/>
          <p:nvPr/>
        </p:nvSpPr>
        <p:spPr>
          <a:xfrm>
            <a:off x="7223760" y="3566160"/>
            <a:ext cx="1280160" cy="411480"/>
          </a:xfrm>
          <a:prstGeom prst="rect">
            <a:avLst/>
          </a:prstGeom>
          <a:noFill/>
          <a:ln/>
        </p:spPr>
        <p:txBody>
          <a:bodyPr wrap="square" rtlCol="0" anchor="ctr"/>
          <a:lstStyle/>
          <a:p>
            <a:pPr indent="0" marL="0">
              <a:buNone/>
            </a:pPr>
            <a:r>
              <a:rPr lang="en-US" sz="1600" b="1" dirty="0">
                <a:solidFill>
                  <a:srgbClr val="3A6EA5"/>
                </a:solidFill>
              </a:rPr>
              <a:t>9/12 = 75%</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indent="0" marL="0">
              <a:buNone/>
            </a:pPr>
            <a:r>
              <a:rPr lang="en-US" sz="3600" b="1" dirty="0">
                <a:solidFill>
                  <a:srgbClr val="1B1340"/>
                </a:solidFill>
              </a:rPr>
              <a:t>Pariserhjulet – Geometri</a:t>
            </a:r>
            <a:endParaRPr lang="en-US" sz="3600" dirty="0"/>
          </a:p>
        </p:txBody>
      </p:sp>
      <p:sp>
        <p:nvSpPr>
          <p:cNvPr id="3" name="Shape 1"/>
          <p:cNvSpPr/>
          <p:nvPr/>
        </p:nvSpPr>
        <p:spPr>
          <a:xfrm>
            <a:off x="548640" y="1051560"/>
            <a:ext cx="8046720" cy="54864"/>
          </a:xfrm>
          <a:prstGeom prst="rect">
            <a:avLst/>
          </a:prstGeom>
          <a:solidFill>
            <a:srgbClr val="2A9D8F"/>
          </a:solidFill>
          <a:ln/>
        </p:spPr>
      </p:sp>
      <p:pic>
        <p:nvPicPr>
          <p:cNvPr id="4" name="Image 0" descr="pariser.jpg">    </p:cNvPr>
          <p:cNvPicPr>
            <a:picLocks noChangeAspect="1"/>
          </p:cNvPicPr>
          <p:nvPr/>
        </p:nvPicPr>
        <p:blipFill>
          <a:blip r:embed="rId1"/>
          <a:srcRect l="0" r="0" t="0" b="0"/>
          <a:stretch/>
        </p:blipFill>
        <p:spPr>
          <a:xfrm>
            <a:off x="548640" y="1188720"/>
            <a:ext cx="2560320" cy="3291840"/>
          </a:xfrm>
          <a:prstGeom prst="rect">
            <a:avLst/>
          </a:prstGeom>
        </p:spPr>
      </p:pic>
      <p:sp>
        <p:nvSpPr>
          <p:cNvPr id="5" name="Shape 2"/>
          <p:cNvSpPr/>
          <p:nvPr/>
        </p:nvSpPr>
        <p:spPr>
          <a:xfrm>
            <a:off x="3383280" y="1188720"/>
            <a:ext cx="2286000" cy="1371600"/>
          </a:xfrm>
          <a:prstGeom prst="roundRect">
            <a:avLst>
              <a:gd name="adj" fmla="val 10000"/>
            </a:avLst>
          </a:prstGeom>
          <a:solidFill>
            <a:srgbClr val="F3F1FA"/>
          </a:solidFill>
          <a:ln/>
        </p:spPr>
      </p:sp>
      <p:sp>
        <p:nvSpPr>
          <p:cNvPr id="6" name="Text 3"/>
          <p:cNvSpPr txBox="1"/>
          <p:nvPr/>
        </p:nvSpPr>
        <p:spPr>
          <a:xfrm>
            <a:off x="3383280" y="1261872"/>
            <a:ext cx="2286000" cy="777240"/>
          </a:xfrm>
          <a:prstGeom prst="rect">
            <a:avLst/>
          </a:prstGeom>
          <a:noFill/>
          <a:ln/>
        </p:spPr>
        <p:txBody>
          <a:bodyPr wrap="square" rtlCol="0" anchor="ctr"/>
          <a:lstStyle/>
          <a:p>
            <a:pPr algn="ctr" indent="0" marL="0">
              <a:buNone/>
            </a:pPr>
            <a:r>
              <a:rPr lang="en-US" sz="4200" b="1" dirty="0">
                <a:solidFill>
                  <a:srgbClr val="E63946"/>
                </a:solidFill>
              </a:rPr>
              <a:t>50 m</a:t>
            </a:r>
            <a:endParaRPr lang="en-US" sz="4200" dirty="0"/>
          </a:p>
        </p:txBody>
      </p:sp>
      <p:sp>
        <p:nvSpPr>
          <p:cNvPr id="7" name="Text 4"/>
          <p:cNvSpPr txBox="1"/>
          <p:nvPr/>
        </p:nvSpPr>
        <p:spPr>
          <a:xfrm>
            <a:off x="3383280" y="2011680"/>
            <a:ext cx="2286000" cy="411480"/>
          </a:xfrm>
          <a:prstGeom prst="rect">
            <a:avLst/>
          </a:prstGeom>
          <a:noFill/>
          <a:ln/>
        </p:spPr>
        <p:txBody>
          <a:bodyPr wrap="square" rtlCol="0" anchor="ctr"/>
          <a:lstStyle/>
          <a:p>
            <a:pPr algn="ctr" indent="0" marL="0">
              <a:buNone/>
            </a:pPr>
            <a:r>
              <a:rPr lang="en-US" sz="1600" dirty="0">
                <a:solidFill>
                  <a:srgbClr val="1B1340"/>
                </a:solidFill>
              </a:rPr>
              <a:t>Diameter</a:t>
            </a:r>
            <a:endParaRPr lang="en-US" sz="1600" dirty="0"/>
          </a:p>
        </p:txBody>
      </p:sp>
      <p:sp>
        <p:nvSpPr>
          <p:cNvPr id="8" name="Shape 5"/>
          <p:cNvSpPr/>
          <p:nvPr/>
        </p:nvSpPr>
        <p:spPr>
          <a:xfrm>
            <a:off x="5852160" y="1188720"/>
            <a:ext cx="2286000" cy="1371600"/>
          </a:xfrm>
          <a:prstGeom prst="roundRect">
            <a:avLst>
              <a:gd name="adj" fmla="val 10000"/>
            </a:avLst>
          </a:prstGeom>
          <a:solidFill>
            <a:srgbClr val="F3F1FA"/>
          </a:solidFill>
          <a:ln/>
        </p:spPr>
      </p:sp>
      <p:sp>
        <p:nvSpPr>
          <p:cNvPr id="9" name="Text 6"/>
          <p:cNvSpPr txBox="1"/>
          <p:nvPr/>
        </p:nvSpPr>
        <p:spPr>
          <a:xfrm>
            <a:off x="5852160" y="1261872"/>
            <a:ext cx="2286000" cy="777240"/>
          </a:xfrm>
          <a:prstGeom prst="rect">
            <a:avLst/>
          </a:prstGeom>
          <a:noFill/>
          <a:ln/>
        </p:spPr>
        <p:txBody>
          <a:bodyPr wrap="square" rtlCol="0" anchor="ctr"/>
          <a:lstStyle/>
          <a:p>
            <a:pPr algn="ctr" indent="0" marL="0">
              <a:buNone/>
            </a:pPr>
            <a:r>
              <a:rPr lang="en-US" sz="4200" b="1" dirty="0">
                <a:solidFill>
                  <a:srgbClr val="3A6EA5"/>
                </a:solidFill>
              </a:rPr>
              <a:t>25 m</a:t>
            </a:r>
            <a:endParaRPr lang="en-US" sz="4200" dirty="0"/>
          </a:p>
        </p:txBody>
      </p:sp>
      <p:sp>
        <p:nvSpPr>
          <p:cNvPr id="10" name="Text 7"/>
          <p:cNvSpPr txBox="1"/>
          <p:nvPr/>
        </p:nvSpPr>
        <p:spPr>
          <a:xfrm>
            <a:off x="5852160" y="2011680"/>
            <a:ext cx="2286000" cy="411480"/>
          </a:xfrm>
          <a:prstGeom prst="rect">
            <a:avLst/>
          </a:prstGeom>
          <a:noFill/>
          <a:ln/>
        </p:spPr>
        <p:txBody>
          <a:bodyPr wrap="square" rtlCol="0" anchor="ctr"/>
          <a:lstStyle/>
          <a:p>
            <a:pPr algn="ctr" indent="0" marL="0">
              <a:buNone/>
            </a:pPr>
            <a:r>
              <a:rPr lang="en-US" sz="1600" dirty="0">
                <a:solidFill>
                  <a:srgbClr val="1B1340"/>
                </a:solidFill>
              </a:rPr>
              <a:t>Radius</a:t>
            </a:r>
            <a:endParaRPr lang="en-US" sz="1600" dirty="0"/>
          </a:p>
        </p:txBody>
      </p:sp>
      <p:sp>
        <p:nvSpPr>
          <p:cNvPr id="11" name="Shape 8"/>
          <p:cNvSpPr/>
          <p:nvPr/>
        </p:nvSpPr>
        <p:spPr>
          <a:xfrm>
            <a:off x="3383280" y="2834640"/>
            <a:ext cx="5029200" cy="914400"/>
          </a:xfrm>
          <a:prstGeom prst="roundRect">
            <a:avLst>
              <a:gd name="adj" fmla="val 15000"/>
            </a:avLst>
          </a:prstGeom>
          <a:solidFill>
            <a:srgbClr val="1B1340"/>
          </a:solidFill>
          <a:ln/>
        </p:spPr>
      </p:sp>
      <p:sp>
        <p:nvSpPr>
          <p:cNvPr id="12" name="Text 9"/>
          <p:cNvSpPr txBox="1"/>
          <p:nvPr/>
        </p:nvSpPr>
        <p:spPr>
          <a:xfrm>
            <a:off x="3383280" y="2834640"/>
            <a:ext cx="5029200" cy="914400"/>
          </a:xfrm>
          <a:prstGeom prst="rect">
            <a:avLst/>
          </a:prstGeom>
          <a:noFill/>
          <a:ln/>
        </p:spPr>
        <p:txBody>
          <a:bodyPr wrap="square" rtlCol="0" anchor="ctr"/>
          <a:lstStyle/>
          <a:p>
            <a:pPr algn="ctr" indent="0" marL="0">
              <a:buNone/>
            </a:pPr>
            <a:r>
              <a:rPr lang="en-US" sz="1800" b="1" dirty="0">
                <a:solidFill>
                  <a:srgbClr val="F4B400"/>
                </a:solidFill>
              </a:rPr>
              <a:t>Omkrets: </a:t>
            </a:r>
            <a:pPr algn="ctr" indent="0" marL="0">
              <a:buNone/>
            </a:pPr>
            <a:r>
              <a:rPr lang="en-US" sz="1800" dirty="0">
                <a:solidFill>
                  <a:srgbClr val="FFFFFF"/>
                </a:solidFill>
              </a:rPr>
              <a:t>π · d = 3,14 · 50 ≈ </a:t>
            </a:r>
            <a:pPr algn="ctr" indent="0" marL="0">
              <a:buNone/>
            </a:pPr>
            <a:r>
              <a:rPr lang="en-US" sz="2200" b="1" dirty="0">
                <a:solidFill>
                  <a:srgbClr val="2A9D8F"/>
                </a:solidFill>
              </a:rPr>
              <a:t>157 m</a:t>
            </a:r>
            <a:endParaRPr lang="en-US" sz="1800" dirty="0"/>
          </a:p>
        </p:txBody>
      </p:sp>
      <p:sp>
        <p:nvSpPr>
          <p:cNvPr id="13" name="Shape 10"/>
          <p:cNvSpPr/>
          <p:nvPr/>
        </p:nvSpPr>
        <p:spPr>
          <a:xfrm>
            <a:off x="3383280" y="3931920"/>
            <a:ext cx="5029200" cy="822960"/>
          </a:xfrm>
          <a:prstGeom prst="roundRect">
            <a:avLst>
              <a:gd name="adj" fmla="val 16667"/>
            </a:avLst>
          </a:prstGeom>
          <a:solidFill>
            <a:srgbClr val="F3F1FA"/>
          </a:solidFill>
          <a:ln/>
        </p:spPr>
      </p:sp>
      <p:sp>
        <p:nvSpPr>
          <p:cNvPr id="14" name="Text 11"/>
          <p:cNvSpPr txBox="1"/>
          <p:nvPr/>
        </p:nvSpPr>
        <p:spPr>
          <a:xfrm>
            <a:off x="3383280" y="3931920"/>
            <a:ext cx="5029200" cy="822960"/>
          </a:xfrm>
          <a:prstGeom prst="rect">
            <a:avLst/>
          </a:prstGeom>
          <a:noFill/>
          <a:ln/>
        </p:spPr>
        <p:txBody>
          <a:bodyPr wrap="square" rtlCol="0" anchor="ctr"/>
          <a:lstStyle/>
          <a:p>
            <a:pPr algn="ctr" indent="0" marL="0">
              <a:buNone/>
            </a:pPr>
            <a:r>
              <a:rPr lang="en-US" sz="1800" dirty="0">
                <a:solidFill>
                  <a:srgbClr val="1B1340"/>
                </a:solidFill>
              </a:rPr>
              <a:t>Radius = Diameter ÷ 2 = 50 ÷ 2 = 25 m</a:t>
            </a: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indent="0" marL="0">
              <a:buNone/>
            </a:pPr>
            <a:r>
              <a:rPr lang="en-US" sz="3600" b="1" dirty="0">
                <a:solidFill>
                  <a:srgbClr val="1B1340"/>
                </a:solidFill>
              </a:rPr>
              <a:t>Åpningstider</a:t>
            </a:r>
            <a:endParaRPr lang="en-US" sz="3600" dirty="0"/>
          </a:p>
        </p:txBody>
      </p:sp>
      <p:sp>
        <p:nvSpPr>
          <p:cNvPr id="3" name="Shape 1"/>
          <p:cNvSpPr/>
          <p:nvPr/>
        </p:nvSpPr>
        <p:spPr>
          <a:xfrm>
            <a:off x="548640" y="1051560"/>
            <a:ext cx="8046720" cy="54864"/>
          </a:xfrm>
          <a:prstGeom prst="rect">
            <a:avLst/>
          </a:prstGeom>
          <a:solidFill>
            <a:srgbClr val="3A6EA5"/>
          </a:solidFill>
          <a:ln/>
        </p:spPr>
      </p:sp>
      <p:sp>
        <p:nvSpPr>
          <p:cNvPr id="4" name="Shape 2"/>
          <p:cNvSpPr/>
          <p:nvPr/>
        </p:nvSpPr>
        <p:spPr>
          <a:xfrm>
            <a:off x="548640" y="1188720"/>
            <a:ext cx="2606040" cy="2560320"/>
          </a:xfrm>
          <a:prstGeom prst="roundRect">
            <a:avLst>
              <a:gd name="adj" fmla="val 5357"/>
            </a:avLst>
          </a:prstGeom>
          <a:solidFill>
            <a:srgbClr val="F3F1FA"/>
          </a:solidFill>
          <a:ln/>
        </p:spPr>
      </p:sp>
      <p:sp>
        <p:nvSpPr>
          <p:cNvPr id="5" name="Shape 3"/>
          <p:cNvSpPr/>
          <p:nvPr/>
        </p:nvSpPr>
        <p:spPr>
          <a:xfrm>
            <a:off x="548640" y="1188720"/>
            <a:ext cx="2606040" cy="411480"/>
          </a:xfrm>
          <a:prstGeom prst="rect">
            <a:avLst/>
          </a:prstGeom>
          <a:solidFill>
            <a:srgbClr val="E63946"/>
          </a:solidFill>
          <a:ln/>
        </p:spPr>
      </p:sp>
      <p:sp>
        <p:nvSpPr>
          <p:cNvPr id="6" name="Text 4"/>
          <p:cNvSpPr txBox="1"/>
          <p:nvPr/>
        </p:nvSpPr>
        <p:spPr>
          <a:xfrm>
            <a:off x="548640" y="1188720"/>
            <a:ext cx="2606040" cy="411480"/>
          </a:xfrm>
          <a:prstGeom prst="rect">
            <a:avLst/>
          </a:prstGeom>
          <a:noFill/>
          <a:ln/>
        </p:spPr>
        <p:txBody>
          <a:bodyPr wrap="square" rtlCol="0" anchor="ctr"/>
          <a:lstStyle/>
          <a:p>
            <a:pPr algn="ctr" indent="0" marL="0">
              <a:buNone/>
            </a:pPr>
            <a:r>
              <a:rPr lang="en-US" sz="1700" b="1" dirty="0">
                <a:solidFill>
                  <a:srgbClr val="FFFFFF"/>
                </a:solidFill>
              </a:rPr>
              <a:t>Hverdager</a:t>
            </a:r>
            <a:endParaRPr lang="en-US" sz="1700" dirty="0"/>
          </a:p>
        </p:txBody>
      </p:sp>
      <p:sp>
        <p:nvSpPr>
          <p:cNvPr id="7" name="Text 5"/>
          <p:cNvSpPr txBox="1"/>
          <p:nvPr/>
        </p:nvSpPr>
        <p:spPr>
          <a:xfrm>
            <a:off x="731520" y="1691640"/>
            <a:ext cx="1005840" cy="365760"/>
          </a:xfrm>
          <a:prstGeom prst="rect">
            <a:avLst/>
          </a:prstGeom>
          <a:noFill/>
          <a:ln/>
        </p:spPr>
        <p:txBody>
          <a:bodyPr wrap="square" rtlCol="0" anchor="ctr"/>
          <a:lstStyle/>
          <a:p>
            <a:pPr indent="0" marL="0">
              <a:buNone/>
            </a:pPr>
            <a:r>
              <a:rPr lang="en-US" sz="1400" dirty="0">
                <a:solidFill>
                  <a:srgbClr val="8A84A8"/>
                </a:solidFill>
              </a:rPr>
              <a:t>Åpner:</a:t>
            </a:r>
            <a:endParaRPr lang="en-US" sz="1400" dirty="0"/>
          </a:p>
        </p:txBody>
      </p:sp>
      <p:sp>
        <p:nvSpPr>
          <p:cNvPr id="8" name="Text 6"/>
          <p:cNvSpPr txBox="1"/>
          <p:nvPr/>
        </p:nvSpPr>
        <p:spPr>
          <a:xfrm>
            <a:off x="1645920" y="1691640"/>
            <a:ext cx="1280160" cy="365760"/>
          </a:xfrm>
          <a:prstGeom prst="rect">
            <a:avLst/>
          </a:prstGeom>
          <a:noFill/>
          <a:ln/>
        </p:spPr>
        <p:txBody>
          <a:bodyPr wrap="square" rtlCol="0" anchor="ctr"/>
          <a:lstStyle/>
          <a:p>
            <a:pPr indent="0" marL="0">
              <a:buNone/>
            </a:pPr>
            <a:r>
              <a:rPr lang="en-US" sz="1600" b="1" dirty="0">
                <a:solidFill>
                  <a:srgbClr val="1B1340"/>
                </a:solidFill>
              </a:rPr>
              <a:t>17:00</a:t>
            </a:r>
            <a:endParaRPr lang="en-US" sz="1600" dirty="0"/>
          </a:p>
        </p:txBody>
      </p:sp>
      <p:sp>
        <p:nvSpPr>
          <p:cNvPr id="9" name="Text 7"/>
          <p:cNvSpPr txBox="1"/>
          <p:nvPr/>
        </p:nvSpPr>
        <p:spPr>
          <a:xfrm>
            <a:off x="731520" y="2103120"/>
            <a:ext cx="1005840" cy="365760"/>
          </a:xfrm>
          <a:prstGeom prst="rect">
            <a:avLst/>
          </a:prstGeom>
          <a:noFill/>
          <a:ln/>
        </p:spPr>
        <p:txBody>
          <a:bodyPr wrap="square" rtlCol="0" anchor="ctr"/>
          <a:lstStyle/>
          <a:p>
            <a:pPr indent="0" marL="0">
              <a:buNone/>
            </a:pPr>
            <a:r>
              <a:rPr lang="en-US" sz="1400" dirty="0">
                <a:solidFill>
                  <a:srgbClr val="8A84A8"/>
                </a:solidFill>
              </a:rPr>
              <a:t>Stenger:</a:t>
            </a:r>
            <a:endParaRPr lang="en-US" sz="1400" dirty="0"/>
          </a:p>
        </p:txBody>
      </p:sp>
      <p:sp>
        <p:nvSpPr>
          <p:cNvPr id="10" name="Text 8"/>
          <p:cNvSpPr txBox="1"/>
          <p:nvPr/>
        </p:nvSpPr>
        <p:spPr>
          <a:xfrm>
            <a:off x="1645920" y="2103120"/>
            <a:ext cx="1280160" cy="365760"/>
          </a:xfrm>
          <a:prstGeom prst="rect">
            <a:avLst/>
          </a:prstGeom>
          <a:noFill/>
          <a:ln/>
        </p:spPr>
        <p:txBody>
          <a:bodyPr wrap="square" rtlCol="0" anchor="ctr"/>
          <a:lstStyle/>
          <a:p>
            <a:pPr indent="0" marL="0">
              <a:buNone/>
            </a:pPr>
            <a:r>
              <a:rPr lang="en-US" sz="1600" b="1" dirty="0">
                <a:solidFill>
                  <a:srgbClr val="1B1340"/>
                </a:solidFill>
              </a:rPr>
              <a:t>21:00</a:t>
            </a:r>
            <a:endParaRPr lang="en-US" sz="1600" dirty="0"/>
          </a:p>
        </p:txBody>
      </p:sp>
      <p:sp>
        <p:nvSpPr>
          <p:cNvPr id="11" name="Text 9"/>
          <p:cNvSpPr txBox="1"/>
          <p:nvPr/>
        </p:nvSpPr>
        <p:spPr>
          <a:xfrm>
            <a:off x="548640" y="2651760"/>
            <a:ext cx="2606040" cy="640080"/>
          </a:xfrm>
          <a:prstGeom prst="rect">
            <a:avLst/>
          </a:prstGeom>
          <a:noFill/>
          <a:ln/>
        </p:spPr>
        <p:txBody>
          <a:bodyPr wrap="square" rtlCol="0" anchor="ctr"/>
          <a:lstStyle/>
          <a:p>
            <a:pPr algn="ctr" indent="0" marL="0">
              <a:buNone/>
            </a:pPr>
            <a:r>
              <a:rPr lang="en-US" sz="2800" b="1" dirty="0">
                <a:solidFill>
                  <a:srgbClr val="E63946"/>
                </a:solidFill>
              </a:rPr>
              <a:t>4 timer</a:t>
            </a:r>
            <a:endParaRPr lang="en-US" sz="2800" dirty="0"/>
          </a:p>
        </p:txBody>
      </p:sp>
      <p:sp>
        <p:nvSpPr>
          <p:cNvPr id="12" name="Shape 10"/>
          <p:cNvSpPr/>
          <p:nvPr/>
        </p:nvSpPr>
        <p:spPr>
          <a:xfrm>
            <a:off x="3337560" y="1188720"/>
            <a:ext cx="2606040" cy="2560320"/>
          </a:xfrm>
          <a:prstGeom prst="roundRect">
            <a:avLst>
              <a:gd name="adj" fmla="val 5357"/>
            </a:avLst>
          </a:prstGeom>
          <a:solidFill>
            <a:srgbClr val="F3F1FA"/>
          </a:solidFill>
          <a:ln/>
        </p:spPr>
      </p:sp>
      <p:sp>
        <p:nvSpPr>
          <p:cNvPr id="13" name="Shape 11"/>
          <p:cNvSpPr/>
          <p:nvPr/>
        </p:nvSpPr>
        <p:spPr>
          <a:xfrm>
            <a:off x="3337560" y="1188720"/>
            <a:ext cx="2606040" cy="411480"/>
          </a:xfrm>
          <a:prstGeom prst="rect">
            <a:avLst/>
          </a:prstGeom>
          <a:solidFill>
            <a:srgbClr val="F4B400"/>
          </a:solidFill>
          <a:ln/>
        </p:spPr>
      </p:sp>
      <p:sp>
        <p:nvSpPr>
          <p:cNvPr id="14" name="Text 12"/>
          <p:cNvSpPr txBox="1"/>
          <p:nvPr/>
        </p:nvSpPr>
        <p:spPr>
          <a:xfrm>
            <a:off x="3337560" y="1188720"/>
            <a:ext cx="2606040" cy="411480"/>
          </a:xfrm>
          <a:prstGeom prst="rect">
            <a:avLst/>
          </a:prstGeom>
          <a:noFill/>
          <a:ln/>
        </p:spPr>
        <p:txBody>
          <a:bodyPr wrap="square" rtlCol="0" anchor="ctr"/>
          <a:lstStyle/>
          <a:p>
            <a:pPr algn="ctr" indent="0" marL="0">
              <a:buNone/>
            </a:pPr>
            <a:r>
              <a:rPr lang="en-US" sz="1700" b="1" dirty="0">
                <a:solidFill>
                  <a:srgbClr val="FFFFFF"/>
                </a:solidFill>
              </a:rPr>
              <a:t>Lørdag</a:t>
            </a:r>
            <a:endParaRPr lang="en-US" sz="1700" dirty="0"/>
          </a:p>
        </p:txBody>
      </p:sp>
      <p:sp>
        <p:nvSpPr>
          <p:cNvPr id="15" name="Text 13"/>
          <p:cNvSpPr txBox="1"/>
          <p:nvPr/>
        </p:nvSpPr>
        <p:spPr>
          <a:xfrm>
            <a:off x="3520440" y="1691640"/>
            <a:ext cx="1005840" cy="365760"/>
          </a:xfrm>
          <a:prstGeom prst="rect">
            <a:avLst/>
          </a:prstGeom>
          <a:noFill/>
          <a:ln/>
        </p:spPr>
        <p:txBody>
          <a:bodyPr wrap="square" rtlCol="0" anchor="ctr"/>
          <a:lstStyle/>
          <a:p>
            <a:pPr indent="0" marL="0">
              <a:buNone/>
            </a:pPr>
            <a:r>
              <a:rPr lang="en-US" sz="1400" dirty="0">
                <a:solidFill>
                  <a:srgbClr val="8A84A8"/>
                </a:solidFill>
              </a:rPr>
              <a:t>Åpner:</a:t>
            </a:r>
            <a:endParaRPr lang="en-US" sz="1400" dirty="0"/>
          </a:p>
        </p:txBody>
      </p:sp>
      <p:sp>
        <p:nvSpPr>
          <p:cNvPr id="16" name="Text 14"/>
          <p:cNvSpPr txBox="1"/>
          <p:nvPr/>
        </p:nvSpPr>
        <p:spPr>
          <a:xfrm>
            <a:off x="4434840" y="1691640"/>
            <a:ext cx="1280160" cy="365760"/>
          </a:xfrm>
          <a:prstGeom prst="rect">
            <a:avLst/>
          </a:prstGeom>
          <a:noFill/>
          <a:ln/>
        </p:spPr>
        <p:txBody>
          <a:bodyPr wrap="square" rtlCol="0" anchor="ctr"/>
          <a:lstStyle/>
          <a:p>
            <a:pPr indent="0" marL="0">
              <a:buNone/>
            </a:pPr>
            <a:r>
              <a:rPr lang="en-US" sz="1600" b="1" dirty="0">
                <a:solidFill>
                  <a:srgbClr val="1B1340"/>
                </a:solidFill>
              </a:rPr>
              <a:t>12:00</a:t>
            </a:r>
            <a:endParaRPr lang="en-US" sz="1600" dirty="0"/>
          </a:p>
        </p:txBody>
      </p:sp>
      <p:sp>
        <p:nvSpPr>
          <p:cNvPr id="17" name="Text 15"/>
          <p:cNvSpPr txBox="1"/>
          <p:nvPr/>
        </p:nvSpPr>
        <p:spPr>
          <a:xfrm>
            <a:off x="3520440" y="2103120"/>
            <a:ext cx="1005840" cy="365760"/>
          </a:xfrm>
          <a:prstGeom prst="rect">
            <a:avLst/>
          </a:prstGeom>
          <a:noFill/>
          <a:ln/>
        </p:spPr>
        <p:txBody>
          <a:bodyPr wrap="square" rtlCol="0" anchor="ctr"/>
          <a:lstStyle/>
          <a:p>
            <a:pPr indent="0" marL="0">
              <a:buNone/>
            </a:pPr>
            <a:r>
              <a:rPr lang="en-US" sz="1400" dirty="0">
                <a:solidFill>
                  <a:srgbClr val="8A84A8"/>
                </a:solidFill>
              </a:rPr>
              <a:t>Stenger:</a:t>
            </a:r>
            <a:endParaRPr lang="en-US" sz="1400" dirty="0"/>
          </a:p>
        </p:txBody>
      </p:sp>
      <p:sp>
        <p:nvSpPr>
          <p:cNvPr id="18" name="Text 16"/>
          <p:cNvSpPr txBox="1"/>
          <p:nvPr/>
        </p:nvSpPr>
        <p:spPr>
          <a:xfrm>
            <a:off x="4434840" y="2103120"/>
            <a:ext cx="1280160" cy="365760"/>
          </a:xfrm>
          <a:prstGeom prst="rect">
            <a:avLst/>
          </a:prstGeom>
          <a:noFill/>
          <a:ln/>
        </p:spPr>
        <p:txBody>
          <a:bodyPr wrap="square" rtlCol="0" anchor="ctr"/>
          <a:lstStyle/>
          <a:p>
            <a:pPr indent="0" marL="0">
              <a:buNone/>
            </a:pPr>
            <a:r>
              <a:rPr lang="en-US" sz="1600" b="1" dirty="0">
                <a:solidFill>
                  <a:srgbClr val="1B1340"/>
                </a:solidFill>
              </a:rPr>
              <a:t>22:00</a:t>
            </a:r>
            <a:endParaRPr lang="en-US" sz="1600" dirty="0"/>
          </a:p>
        </p:txBody>
      </p:sp>
      <p:sp>
        <p:nvSpPr>
          <p:cNvPr id="19" name="Text 17"/>
          <p:cNvSpPr txBox="1"/>
          <p:nvPr/>
        </p:nvSpPr>
        <p:spPr>
          <a:xfrm>
            <a:off x="3337560" y="2651760"/>
            <a:ext cx="2606040" cy="640080"/>
          </a:xfrm>
          <a:prstGeom prst="rect">
            <a:avLst/>
          </a:prstGeom>
          <a:noFill/>
          <a:ln/>
        </p:spPr>
        <p:txBody>
          <a:bodyPr wrap="square" rtlCol="0" anchor="ctr"/>
          <a:lstStyle/>
          <a:p>
            <a:pPr algn="ctr" indent="0" marL="0">
              <a:buNone/>
            </a:pPr>
            <a:r>
              <a:rPr lang="en-US" sz="2800" b="1" dirty="0">
                <a:solidFill>
                  <a:srgbClr val="F4B400"/>
                </a:solidFill>
              </a:rPr>
              <a:t>10 timer</a:t>
            </a:r>
            <a:endParaRPr lang="en-US" sz="2800" dirty="0"/>
          </a:p>
        </p:txBody>
      </p:sp>
      <p:sp>
        <p:nvSpPr>
          <p:cNvPr id="20" name="Shape 18"/>
          <p:cNvSpPr/>
          <p:nvPr/>
        </p:nvSpPr>
        <p:spPr>
          <a:xfrm>
            <a:off x="6126480" y="1188720"/>
            <a:ext cx="2606040" cy="2560320"/>
          </a:xfrm>
          <a:prstGeom prst="roundRect">
            <a:avLst>
              <a:gd name="adj" fmla="val 5357"/>
            </a:avLst>
          </a:prstGeom>
          <a:solidFill>
            <a:srgbClr val="F3F1FA"/>
          </a:solidFill>
          <a:ln/>
        </p:spPr>
      </p:sp>
      <p:sp>
        <p:nvSpPr>
          <p:cNvPr id="21" name="Shape 19"/>
          <p:cNvSpPr/>
          <p:nvPr/>
        </p:nvSpPr>
        <p:spPr>
          <a:xfrm>
            <a:off x="6126480" y="1188720"/>
            <a:ext cx="2606040" cy="411480"/>
          </a:xfrm>
          <a:prstGeom prst="rect">
            <a:avLst/>
          </a:prstGeom>
          <a:solidFill>
            <a:srgbClr val="2A9D8F"/>
          </a:solidFill>
          <a:ln/>
        </p:spPr>
      </p:sp>
      <p:sp>
        <p:nvSpPr>
          <p:cNvPr id="22" name="Text 20"/>
          <p:cNvSpPr txBox="1"/>
          <p:nvPr/>
        </p:nvSpPr>
        <p:spPr>
          <a:xfrm>
            <a:off x="6126480" y="1188720"/>
            <a:ext cx="2606040" cy="411480"/>
          </a:xfrm>
          <a:prstGeom prst="rect">
            <a:avLst/>
          </a:prstGeom>
          <a:noFill/>
          <a:ln/>
        </p:spPr>
        <p:txBody>
          <a:bodyPr wrap="square" rtlCol="0" anchor="ctr"/>
          <a:lstStyle/>
          <a:p>
            <a:pPr algn="ctr" indent="0" marL="0">
              <a:buNone/>
            </a:pPr>
            <a:r>
              <a:rPr lang="en-US" sz="1700" b="1" dirty="0">
                <a:solidFill>
                  <a:srgbClr val="FFFFFF"/>
                </a:solidFill>
              </a:rPr>
              <a:t>Søndag</a:t>
            </a:r>
            <a:endParaRPr lang="en-US" sz="1700" dirty="0"/>
          </a:p>
        </p:txBody>
      </p:sp>
      <p:sp>
        <p:nvSpPr>
          <p:cNvPr id="23" name="Text 21"/>
          <p:cNvSpPr txBox="1"/>
          <p:nvPr/>
        </p:nvSpPr>
        <p:spPr>
          <a:xfrm>
            <a:off x="6309360" y="1691640"/>
            <a:ext cx="1005840" cy="365760"/>
          </a:xfrm>
          <a:prstGeom prst="rect">
            <a:avLst/>
          </a:prstGeom>
          <a:noFill/>
          <a:ln/>
        </p:spPr>
        <p:txBody>
          <a:bodyPr wrap="square" rtlCol="0" anchor="ctr"/>
          <a:lstStyle/>
          <a:p>
            <a:pPr indent="0" marL="0">
              <a:buNone/>
            </a:pPr>
            <a:r>
              <a:rPr lang="en-US" sz="1400" dirty="0">
                <a:solidFill>
                  <a:srgbClr val="8A84A8"/>
                </a:solidFill>
              </a:rPr>
              <a:t>Åpner:</a:t>
            </a:r>
            <a:endParaRPr lang="en-US" sz="1400" dirty="0"/>
          </a:p>
        </p:txBody>
      </p:sp>
      <p:sp>
        <p:nvSpPr>
          <p:cNvPr id="24" name="Text 22"/>
          <p:cNvSpPr txBox="1"/>
          <p:nvPr/>
        </p:nvSpPr>
        <p:spPr>
          <a:xfrm>
            <a:off x="7223760" y="1691640"/>
            <a:ext cx="1280160" cy="365760"/>
          </a:xfrm>
          <a:prstGeom prst="rect">
            <a:avLst/>
          </a:prstGeom>
          <a:noFill/>
          <a:ln/>
        </p:spPr>
        <p:txBody>
          <a:bodyPr wrap="square" rtlCol="0" anchor="ctr"/>
          <a:lstStyle/>
          <a:p>
            <a:pPr indent="0" marL="0">
              <a:buNone/>
            </a:pPr>
            <a:r>
              <a:rPr lang="en-US" sz="1600" b="1" dirty="0">
                <a:solidFill>
                  <a:srgbClr val="1B1340"/>
                </a:solidFill>
              </a:rPr>
              <a:t>13:00</a:t>
            </a:r>
            <a:endParaRPr lang="en-US" sz="1600" dirty="0"/>
          </a:p>
        </p:txBody>
      </p:sp>
      <p:sp>
        <p:nvSpPr>
          <p:cNvPr id="25" name="Text 23"/>
          <p:cNvSpPr txBox="1"/>
          <p:nvPr/>
        </p:nvSpPr>
        <p:spPr>
          <a:xfrm>
            <a:off x="6309360" y="2103120"/>
            <a:ext cx="1005840" cy="365760"/>
          </a:xfrm>
          <a:prstGeom prst="rect">
            <a:avLst/>
          </a:prstGeom>
          <a:noFill/>
          <a:ln/>
        </p:spPr>
        <p:txBody>
          <a:bodyPr wrap="square" rtlCol="0" anchor="ctr"/>
          <a:lstStyle/>
          <a:p>
            <a:pPr indent="0" marL="0">
              <a:buNone/>
            </a:pPr>
            <a:r>
              <a:rPr lang="en-US" sz="1400" dirty="0">
                <a:solidFill>
                  <a:srgbClr val="8A84A8"/>
                </a:solidFill>
              </a:rPr>
              <a:t>Stenger:</a:t>
            </a:r>
            <a:endParaRPr lang="en-US" sz="1400" dirty="0"/>
          </a:p>
        </p:txBody>
      </p:sp>
      <p:sp>
        <p:nvSpPr>
          <p:cNvPr id="26" name="Text 24"/>
          <p:cNvSpPr txBox="1"/>
          <p:nvPr/>
        </p:nvSpPr>
        <p:spPr>
          <a:xfrm>
            <a:off x="7223760" y="2103120"/>
            <a:ext cx="1280160" cy="365760"/>
          </a:xfrm>
          <a:prstGeom prst="rect">
            <a:avLst/>
          </a:prstGeom>
          <a:noFill/>
          <a:ln/>
        </p:spPr>
        <p:txBody>
          <a:bodyPr wrap="square" rtlCol="0" anchor="ctr"/>
          <a:lstStyle/>
          <a:p>
            <a:pPr indent="0" marL="0">
              <a:buNone/>
            </a:pPr>
            <a:r>
              <a:rPr lang="en-US" sz="1600" b="1" dirty="0">
                <a:solidFill>
                  <a:srgbClr val="1B1340"/>
                </a:solidFill>
              </a:rPr>
              <a:t>22:00</a:t>
            </a:r>
            <a:endParaRPr lang="en-US" sz="1600" dirty="0"/>
          </a:p>
        </p:txBody>
      </p:sp>
      <p:sp>
        <p:nvSpPr>
          <p:cNvPr id="27" name="Text 25"/>
          <p:cNvSpPr txBox="1"/>
          <p:nvPr/>
        </p:nvSpPr>
        <p:spPr>
          <a:xfrm>
            <a:off x="6126480" y="2651760"/>
            <a:ext cx="2606040" cy="640080"/>
          </a:xfrm>
          <a:prstGeom prst="rect">
            <a:avLst/>
          </a:prstGeom>
          <a:noFill/>
          <a:ln/>
        </p:spPr>
        <p:txBody>
          <a:bodyPr wrap="square" rtlCol="0" anchor="ctr"/>
          <a:lstStyle/>
          <a:p>
            <a:pPr algn="ctr" indent="0" marL="0">
              <a:buNone/>
            </a:pPr>
            <a:r>
              <a:rPr lang="en-US" sz="2800" b="1" dirty="0">
                <a:solidFill>
                  <a:srgbClr val="2A9D8F"/>
                </a:solidFill>
              </a:rPr>
              <a:t>9 timer</a:t>
            </a:r>
            <a:endParaRPr lang="en-US" sz="2800" dirty="0"/>
          </a:p>
        </p:txBody>
      </p:sp>
      <p:sp>
        <p:nvSpPr>
          <p:cNvPr id="28" name="Shape 26"/>
          <p:cNvSpPr/>
          <p:nvPr/>
        </p:nvSpPr>
        <p:spPr>
          <a:xfrm>
            <a:off x="548640" y="3931920"/>
            <a:ext cx="8046720" cy="1005840"/>
          </a:xfrm>
          <a:prstGeom prst="roundRect">
            <a:avLst>
              <a:gd name="adj" fmla="val 13636"/>
            </a:avLst>
          </a:prstGeom>
          <a:solidFill>
            <a:srgbClr val="1B1340"/>
          </a:solidFill>
          <a:ln/>
        </p:spPr>
      </p:sp>
      <p:sp>
        <p:nvSpPr>
          <p:cNvPr id="29" name="Text 27"/>
          <p:cNvSpPr txBox="1"/>
          <p:nvPr/>
        </p:nvSpPr>
        <p:spPr>
          <a:xfrm>
            <a:off x="548640" y="3931920"/>
            <a:ext cx="8046720" cy="1005840"/>
          </a:xfrm>
          <a:prstGeom prst="rect">
            <a:avLst/>
          </a:prstGeom>
          <a:noFill/>
          <a:ln/>
        </p:spPr>
        <p:txBody>
          <a:bodyPr wrap="square" rtlCol="0" anchor="ctr"/>
          <a:lstStyle/>
          <a:p>
            <a:pPr algn="ctr" indent="0" marL="0">
              <a:buNone/>
            </a:pPr>
            <a:r>
              <a:rPr lang="en-US" sz="2600" b="1" dirty="0">
                <a:solidFill>
                  <a:srgbClr val="F4B400"/>
                </a:solidFill>
              </a:rPr>
              <a:t>Hele uka: </a:t>
            </a:r>
            <a:pPr algn="ctr" indent="0" marL="0">
              <a:buNone/>
            </a:pPr>
            <a:r>
              <a:rPr lang="en-US" sz="2600" dirty="0">
                <a:solidFill>
                  <a:srgbClr val="FFFFFF"/>
                </a:solidFill>
              </a:rPr>
              <a:t>5 × 4 + 10 + 9 = </a:t>
            </a:r>
            <a:pPr algn="ctr" indent="0" marL="0">
              <a:buNone/>
            </a:pPr>
            <a:r>
              <a:rPr lang="en-US" sz="2600" b="1" dirty="0">
                <a:solidFill>
                  <a:srgbClr val="2A9D8F"/>
                </a:solidFill>
              </a:rPr>
              <a:t>39 timer</a:t>
            </a:r>
            <a:endParaRPr lang="en-US" sz="2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indent="0" marL="0">
              <a:buNone/>
            </a:pPr>
            <a:r>
              <a:rPr lang="en-US" sz="3600" b="1" dirty="0">
                <a:solidFill>
                  <a:srgbClr val="1B1340"/>
                </a:solidFill>
              </a:rPr>
              <a:t>Priser og rabatter</a:t>
            </a:r>
            <a:endParaRPr lang="en-US" sz="3600" dirty="0"/>
          </a:p>
        </p:txBody>
      </p:sp>
      <p:sp>
        <p:nvSpPr>
          <p:cNvPr id="3" name="Shape 1"/>
          <p:cNvSpPr/>
          <p:nvPr/>
        </p:nvSpPr>
        <p:spPr>
          <a:xfrm>
            <a:off x="548640" y="1051560"/>
            <a:ext cx="8046720" cy="54864"/>
          </a:xfrm>
          <a:prstGeom prst="rect">
            <a:avLst/>
          </a:prstGeom>
          <a:solidFill>
            <a:srgbClr val="8E44AD"/>
          </a:solidFill>
          <a:ln/>
        </p:spPr>
      </p:sp>
      <p:sp>
        <p:nvSpPr>
          <p:cNvPr id="4" name="Shape 2"/>
          <p:cNvSpPr/>
          <p:nvPr/>
        </p:nvSpPr>
        <p:spPr>
          <a:xfrm>
            <a:off x="548640" y="1188720"/>
            <a:ext cx="3931920" cy="2011680"/>
          </a:xfrm>
          <a:prstGeom prst="roundRect">
            <a:avLst>
              <a:gd name="adj" fmla="val 6818"/>
            </a:avLst>
          </a:prstGeom>
          <a:solidFill>
            <a:srgbClr val="F3F1FA"/>
          </a:solidFill>
          <a:ln/>
        </p:spPr>
      </p:sp>
      <p:sp>
        <p:nvSpPr>
          <p:cNvPr id="5" name="Text 3"/>
          <p:cNvSpPr txBox="1"/>
          <p:nvPr/>
        </p:nvSpPr>
        <p:spPr>
          <a:xfrm>
            <a:off x="731520" y="1234440"/>
            <a:ext cx="3566160" cy="457200"/>
          </a:xfrm>
          <a:prstGeom prst="rect">
            <a:avLst/>
          </a:prstGeom>
          <a:noFill/>
          <a:ln/>
        </p:spPr>
        <p:txBody>
          <a:bodyPr wrap="square" rtlCol="0" anchor="ctr"/>
          <a:lstStyle/>
          <a:p>
            <a:pPr indent="0" marL="0">
              <a:buNone/>
            </a:pPr>
            <a:r>
              <a:rPr lang="en-US" sz="1600" dirty="0">
                <a:solidFill>
                  <a:srgbClr val="1B1340"/>
                </a:solidFill>
              </a:rPr>
              <a:t>Enkeltbillett</a:t>
            </a:r>
            <a:endParaRPr lang="en-US" sz="1600" dirty="0"/>
          </a:p>
        </p:txBody>
      </p:sp>
      <p:sp>
        <p:nvSpPr>
          <p:cNvPr id="6" name="Text 4"/>
          <p:cNvSpPr txBox="1"/>
          <p:nvPr/>
        </p:nvSpPr>
        <p:spPr>
          <a:xfrm>
            <a:off x="731520" y="1691640"/>
            <a:ext cx="3566160" cy="777240"/>
          </a:xfrm>
          <a:prstGeom prst="rect">
            <a:avLst/>
          </a:prstGeom>
          <a:noFill/>
          <a:ln/>
        </p:spPr>
        <p:txBody>
          <a:bodyPr wrap="square" rtlCol="0" anchor="ctr"/>
          <a:lstStyle/>
          <a:p>
            <a:pPr indent="0" marL="0">
              <a:buNone/>
            </a:pPr>
            <a:r>
              <a:rPr lang="en-US" sz="4400" b="1" dirty="0">
                <a:solidFill>
                  <a:srgbClr val="E63946"/>
                </a:solidFill>
              </a:rPr>
              <a:t>45 kr</a:t>
            </a:r>
            <a:endParaRPr lang="en-US" sz="4400" dirty="0"/>
          </a:p>
        </p:txBody>
      </p:sp>
      <p:sp>
        <p:nvSpPr>
          <p:cNvPr id="7" name="Text 5"/>
          <p:cNvSpPr txBox="1"/>
          <p:nvPr/>
        </p:nvSpPr>
        <p:spPr>
          <a:xfrm>
            <a:off x="731520" y="2468880"/>
            <a:ext cx="3566160" cy="411480"/>
          </a:xfrm>
          <a:prstGeom prst="rect">
            <a:avLst/>
          </a:prstGeom>
          <a:noFill/>
          <a:ln/>
        </p:spPr>
        <p:txBody>
          <a:bodyPr wrap="square" rtlCol="0" anchor="ctr"/>
          <a:lstStyle/>
          <a:p>
            <a:pPr indent="0" marL="0">
              <a:buNone/>
            </a:pPr>
            <a:r>
              <a:rPr lang="en-US" sz="1500" dirty="0">
                <a:solidFill>
                  <a:srgbClr val="8A84A8"/>
                </a:solidFill>
              </a:rPr>
              <a:t>én tur</a:t>
            </a:r>
            <a:endParaRPr lang="en-US" sz="1500" dirty="0"/>
          </a:p>
        </p:txBody>
      </p:sp>
      <p:sp>
        <p:nvSpPr>
          <p:cNvPr id="8" name="Shape 6"/>
          <p:cNvSpPr/>
          <p:nvPr/>
        </p:nvSpPr>
        <p:spPr>
          <a:xfrm>
            <a:off x="4754880" y="1188720"/>
            <a:ext cx="3931920" cy="2011680"/>
          </a:xfrm>
          <a:prstGeom prst="roundRect">
            <a:avLst>
              <a:gd name="adj" fmla="val 6818"/>
            </a:avLst>
          </a:prstGeom>
          <a:solidFill>
            <a:srgbClr val="F3F1FA"/>
          </a:solidFill>
          <a:ln/>
        </p:spPr>
      </p:sp>
      <p:sp>
        <p:nvSpPr>
          <p:cNvPr id="9" name="Text 7"/>
          <p:cNvSpPr txBox="1"/>
          <p:nvPr/>
        </p:nvSpPr>
        <p:spPr>
          <a:xfrm>
            <a:off x="4937760" y="1234440"/>
            <a:ext cx="3566160" cy="457200"/>
          </a:xfrm>
          <a:prstGeom prst="rect">
            <a:avLst/>
          </a:prstGeom>
          <a:noFill/>
          <a:ln/>
        </p:spPr>
        <p:txBody>
          <a:bodyPr wrap="square" rtlCol="0" anchor="ctr"/>
          <a:lstStyle/>
          <a:p>
            <a:pPr indent="0" marL="0">
              <a:buNone/>
            </a:pPr>
            <a:r>
              <a:rPr lang="en-US" sz="1600" dirty="0">
                <a:solidFill>
                  <a:srgbClr val="1B1340"/>
                </a:solidFill>
              </a:rPr>
              <a:t>Rabatthefte (7 billetter)</a:t>
            </a:r>
            <a:endParaRPr lang="en-US" sz="1600" dirty="0"/>
          </a:p>
        </p:txBody>
      </p:sp>
      <p:sp>
        <p:nvSpPr>
          <p:cNvPr id="10" name="Text 8"/>
          <p:cNvSpPr txBox="1"/>
          <p:nvPr/>
        </p:nvSpPr>
        <p:spPr>
          <a:xfrm>
            <a:off x="4937760" y="1691640"/>
            <a:ext cx="3566160" cy="777240"/>
          </a:xfrm>
          <a:prstGeom prst="rect">
            <a:avLst/>
          </a:prstGeom>
          <a:noFill/>
          <a:ln/>
        </p:spPr>
        <p:txBody>
          <a:bodyPr wrap="square" rtlCol="0" anchor="ctr"/>
          <a:lstStyle/>
          <a:p>
            <a:pPr indent="0" marL="0">
              <a:buNone/>
            </a:pPr>
            <a:r>
              <a:rPr lang="en-US" sz="4400" b="1" dirty="0">
                <a:solidFill>
                  <a:srgbClr val="8E44AD"/>
                </a:solidFill>
              </a:rPr>
              <a:t>260 kr</a:t>
            </a:r>
            <a:endParaRPr lang="en-US" sz="4400" dirty="0"/>
          </a:p>
        </p:txBody>
      </p:sp>
      <p:sp>
        <p:nvSpPr>
          <p:cNvPr id="11" name="Text 9"/>
          <p:cNvSpPr txBox="1"/>
          <p:nvPr/>
        </p:nvSpPr>
        <p:spPr>
          <a:xfrm>
            <a:off x="4937760" y="2468880"/>
            <a:ext cx="3566160" cy="411480"/>
          </a:xfrm>
          <a:prstGeom prst="rect">
            <a:avLst/>
          </a:prstGeom>
          <a:noFill/>
          <a:ln/>
        </p:spPr>
        <p:txBody>
          <a:bodyPr wrap="square" rtlCol="0" anchor="ctr"/>
          <a:lstStyle/>
          <a:p>
            <a:pPr indent="0" marL="0">
              <a:buNone/>
            </a:pPr>
            <a:r>
              <a:rPr lang="en-US" sz="1500" dirty="0">
                <a:solidFill>
                  <a:srgbClr val="8A84A8"/>
                </a:solidFill>
              </a:rPr>
              <a:t>37 kr per tur</a:t>
            </a:r>
            <a:endParaRPr lang="en-US" sz="1500" dirty="0"/>
          </a:p>
        </p:txBody>
      </p:sp>
      <p:sp>
        <p:nvSpPr>
          <p:cNvPr id="12" name="Shape 10"/>
          <p:cNvSpPr/>
          <p:nvPr/>
        </p:nvSpPr>
        <p:spPr>
          <a:xfrm>
            <a:off x="548640" y="3429000"/>
            <a:ext cx="8046720" cy="1005840"/>
          </a:xfrm>
          <a:prstGeom prst="roundRect">
            <a:avLst>
              <a:gd name="adj" fmla="val 13636"/>
            </a:avLst>
          </a:prstGeom>
          <a:solidFill>
            <a:srgbClr val="2A9D8F"/>
          </a:solidFill>
          <a:ln/>
        </p:spPr>
      </p:sp>
      <p:sp>
        <p:nvSpPr>
          <p:cNvPr id="13" name="Text 11"/>
          <p:cNvSpPr txBox="1"/>
          <p:nvPr/>
        </p:nvSpPr>
        <p:spPr>
          <a:xfrm>
            <a:off x="640080" y="3429000"/>
            <a:ext cx="7863840" cy="1005840"/>
          </a:xfrm>
          <a:prstGeom prst="rect">
            <a:avLst/>
          </a:prstGeom>
          <a:noFill/>
          <a:ln/>
        </p:spPr>
        <p:txBody>
          <a:bodyPr wrap="square" rtlCol="0" anchor="ctr"/>
          <a:lstStyle/>
          <a:p>
            <a:pPr algn="ctr" indent="0" marL="0">
              <a:buNone/>
            </a:pPr>
            <a:r>
              <a:rPr lang="en-US" sz="2000" dirty="0">
                <a:solidFill>
                  <a:srgbClr val="FFFFFF"/>
                </a:solidFill>
              </a:rPr>
              <a:t>7 enkeltbilletter: </a:t>
            </a:r>
            <a:pPr algn="ctr" indent="0" marL="0">
              <a:buNone/>
            </a:pPr>
            <a:r>
              <a:rPr lang="en-US" sz="2000" b="1" dirty="0">
                <a:solidFill>
                  <a:srgbClr val="F4B400"/>
                </a:solidFill>
              </a:rPr>
              <a:t>7 × 45 = 315 kr  </a:t>
            </a:r>
            <a:pPr algn="ctr" indent="0" marL="0">
              <a:buNone/>
            </a:pPr>
            <a:r>
              <a:rPr lang="en-US" sz="2000" dirty="0">
                <a:solidFill>
                  <a:srgbClr val="FFFFFF"/>
                </a:solidFill>
              </a:rPr>
              <a:t>→ Sparer: </a:t>
            </a:r>
            <a:pPr algn="ctr" indent="0" marL="0">
              <a:buNone/>
            </a:pPr>
            <a:r>
              <a:rPr lang="en-US" sz="2000" b="1" dirty="0">
                <a:solidFill>
                  <a:srgbClr val="F4B400"/>
                </a:solidFill>
              </a:rPr>
              <a:t>315 − 260 = 55 kr</a:t>
            </a:r>
            <a:endParaRPr lang="en-US" sz="2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indent="0" marL="0">
              <a:buNone/>
            </a:pPr>
            <a:r>
              <a:rPr lang="en-US" sz="3600" b="1" dirty="0">
                <a:solidFill>
                  <a:srgbClr val="1B1340"/>
                </a:solidFill>
              </a:rPr>
              <a:t>Hva koster det for en familie?</a:t>
            </a:r>
            <a:endParaRPr lang="en-US" sz="3600" dirty="0"/>
          </a:p>
        </p:txBody>
      </p:sp>
      <p:sp>
        <p:nvSpPr>
          <p:cNvPr id="3" name="Shape 1"/>
          <p:cNvSpPr/>
          <p:nvPr/>
        </p:nvSpPr>
        <p:spPr>
          <a:xfrm>
            <a:off x="548640" y="1051560"/>
            <a:ext cx="8046720" cy="54864"/>
          </a:xfrm>
          <a:prstGeom prst="rect">
            <a:avLst/>
          </a:prstGeom>
          <a:solidFill>
            <a:srgbClr val="F77F00"/>
          </a:solidFill>
          <a:ln/>
        </p:spPr>
      </p:sp>
      <p:sp>
        <p:nvSpPr>
          <p:cNvPr id="4" name="Shape 2"/>
          <p:cNvSpPr/>
          <p:nvPr/>
        </p:nvSpPr>
        <p:spPr>
          <a:xfrm>
            <a:off x="548640" y="1188720"/>
            <a:ext cx="8046720" cy="640080"/>
          </a:xfrm>
          <a:prstGeom prst="roundRect">
            <a:avLst>
              <a:gd name="adj" fmla="val 17143"/>
            </a:avLst>
          </a:prstGeom>
          <a:solidFill>
            <a:srgbClr val="F3F1FA"/>
          </a:solidFill>
          <a:ln/>
        </p:spPr>
      </p:sp>
      <p:sp>
        <p:nvSpPr>
          <p:cNvPr id="5" name="Text 3"/>
          <p:cNvSpPr txBox="1"/>
          <p:nvPr/>
        </p:nvSpPr>
        <p:spPr>
          <a:xfrm>
            <a:off x="731520" y="1188720"/>
            <a:ext cx="7680960" cy="640080"/>
          </a:xfrm>
          <a:prstGeom prst="rect">
            <a:avLst/>
          </a:prstGeom>
          <a:noFill/>
          <a:ln/>
        </p:spPr>
        <p:txBody>
          <a:bodyPr wrap="square" rtlCol="0" anchor="ctr"/>
          <a:lstStyle/>
          <a:p>
            <a:pPr indent="0" marL="0">
              <a:buNone/>
            </a:pPr>
            <a:r>
              <a:rPr lang="en-US" sz="1800" dirty="0">
                <a:solidFill>
                  <a:srgbClr val="1B1340"/>
                </a:solidFill>
              </a:rPr>
              <a:t>En familie: 2 voksne + 2 barn → hver tar 7 turer</a:t>
            </a:r>
            <a:endParaRPr lang="en-US" sz="1800" dirty="0"/>
          </a:p>
        </p:txBody>
      </p:sp>
      <p:sp>
        <p:nvSpPr>
          <p:cNvPr id="6" name="Shape 4"/>
          <p:cNvSpPr/>
          <p:nvPr/>
        </p:nvSpPr>
        <p:spPr>
          <a:xfrm>
            <a:off x="548640" y="1965960"/>
            <a:ext cx="4114800" cy="594360"/>
          </a:xfrm>
          <a:prstGeom prst="rect">
            <a:avLst/>
          </a:prstGeom>
          <a:solidFill>
            <a:srgbClr val="1B1340"/>
          </a:solidFill>
          <a:ln/>
        </p:spPr>
      </p:sp>
      <p:sp>
        <p:nvSpPr>
          <p:cNvPr id="7" name="Shape 5"/>
          <p:cNvSpPr/>
          <p:nvPr/>
        </p:nvSpPr>
        <p:spPr>
          <a:xfrm>
            <a:off x="4709160" y="1965960"/>
            <a:ext cx="1828800" cy="594360"/>
          </a:xfrm>
          <a:prstGeom prst="rect">
            <a:avLst/>
          </a:prstGeom>
          <a:solidFill>
            <a:srgbClr val="1B1340"/>
          </a:solidFill>
          <a:ln/>
        </p:spPr>
      </p:sp>
      <p:sp>
        <p:nvSpPr>
          <p:cNvPr id="8" name="Shape 6"/>
          <p:cNvSpPr/>
          <p:nvPr/>
        </p:nvSpPr>
        <p:spPr>
          <a:xfrm>
            <a:off x="6583680" y="1965960"/>
            <a:ext cx="2011680" cy="594360"/>
          </a:xfrm>
          <a:prstGeom prst="rect">
            <a:avLst/>
          </a:prstGeom>
          <a:solidFill>
            <a:srgbClr val="1B1340"/>
          </a:solidFill>
          <a:ln/>
        </p:spPr>
      </p:sp>
      <p:sp>
        <p:nvSpPr>
          <p:cNvPr id="9" name="Text 7"/>
          <p:cNvSpPr txBox="1"/>
          <p:nvPr/>
        </p:nvSpPr>
        <p:spPr>
          <a:xfrm>
            <a:off x="685800" y="1965960"/>
            <a:ext cx="3931920" cy="594360"/>
          </a:xfrm>
          <a:prstGeom prst="rect">
            <a:avLst/>
          </a:prstGeom>
          <a:noFill/>
          <a:ln/>
        </p:spPr>
        <p:txBody>
          <a:bodyPr wrap="square" rtlCol="0" anchor="ctr"/>
          <a:lstStyle/>
          <a:p>
            <a:pPr indent="0" marL="0">
              <a:buNone/>
            </a:pPr>
            <a:r>
              <a:rPr lang="en-US" sz="1500" b="1" dirty="0">
                <a:solidFill>
                  <a:srgbClr val="F4B400"/>
                </a:solidFill>
              </a:rPr>
              <a:t>Alternativ</a:t>
            </a:r>
            <a:endParaRPr lang="en-US" sz="1500" dirty="0"/>
          </a:p>
        </p:txBody>
      </p:sp>
      <p:sp>
        <p:nvSpPr>
          <p:cNvPr id="10" name="Text 8"/>
          <p:cNvSpPr txBox="1"/>
          <p:nvPr/>
        </p:nvSpPr>
        <p:spPr>
          <a:xfrm>
            <a:off x="4754880" y="1965960"/>
            <a:ext cx="1737360" cy="594360"/>
          </a:xfrm>
          <a:prstGeom prst="rect">
            <a:avLst/>
          </a:prstGeom>
          <a:noFill/>
          <a:ln/>
        </p:spPr>
        <p:txBody>
          <a:bodyPr wrap="square" rtlCol="0" anchor="ctr"/>
          <a:lstStyle/>
          <a:p>
            <a:pPr algn="ctr" indent="0" marL="0">
              <a:buNone/>
            </a:pPr>
            <a:r>
              <a:rPr lang="en-US" sz="1500" b="1" dirty="0">
                <a:solidFill>
                  <a:srgbClr val="F4B400"/>
                </a:solidFill>
              </a:rPr>
              <a:t>Regning</a:t>
            </a:r>
            <a:endParaRPr lang="en-US" sz="1500" dirty="0"/>
          </a:p>
        </p:txBody>
      </p:sp>
      <p:sp>
        <p:nvSpPr>
          <p:cNvPr id="11" name="Text 9"/>
          <p:cNvSpPr txBox="1"/>
          <p:nvPr/>
        </p:nvSpPr>
        <p:spPr>
          <a:xfrm>
            <a:off x="6629400" y="1965960"/>
            <a:ext cx="1874520" cy="594360"/>
          </a:xfrm>
          <a:prstGeom prst="rect">
            <a:avLst/>
          </a:prstGeom>
          <a:noFill/>
          <a:ln/>
        </p:spPr>
        <p:txBody>
          <a:bodyPr wrap="square" rtlCol="0" anchor="ctr"/>
          <a:lstStyle/>
          <a:p>
            <a:pPr algn="ctr" indent="0" marL="0">
              <a:buNone/>
            </a:pPr>
            <a:r>
              <a:rPr lang="en-US" sz="1500" b="1" dirty="0">
                <a:solidFill>
                  <a:srgbClr val="F4B400"/>
                </a:solidFill>
              </a:rPr>
              <a:t>Pris</a:t>
            </a:r>
            <a:endParaRPr lang="en-US" sz="1500" dirty="0"/>
          </a:p>
        </p:txBody>
      </p:sp>
      <p:sp>
        <p:nvSpPr>
          <p:cNvPr id="12" name="Shape 10"/>
          <p:cNvSpPr/>
          <p:nvPr/>
        </p:nvSpPr>
        <p:spPr>
          <a:xfrm>
            <a:off x="548640" y="2606040"/>
            <a:ext cx="4114800" cy="594360"/>
          </a:xfrm>
          <a:prstGeom prst="rect">
            <a:avLst/>
          </a:prstGeom>
          <a:solidFill>
            <a:srgbClr val="F3F1FA"/>
          </a:solidFill>
          <a:ln/>
        </p:spPr>
      </p:sp>
      <p:sp>
        <p:nvSpPr>
          <p:cNvPr id="13" name="Shape 11"/>
          <p:cNvSpPr/>
          <p:nvPr/>
        </p:nvSpPr>
        <p:spPr>
          <a:xfrm>
            <a:off x="4709160" y="2606040"/>
            <a:ext cx="1828800" cy="594360"/>
          </a:xfrm>
          <a:prstGeom prst="rect">
            <a:avLst/>
          </a:prstGeom>
          <a:solidFill>
            <a:srgbClr val="F3F1FA"/>
          </a:solidFill>
          <a:ln/>
        </p:spPr>
      </p:sp>
      <p:sp>
        <p:nvSpPr>
          <p:cNvPr id="14" name="Shape 12"/>
          <p:cNvSpPr/>
          <p:nvPr/>
        </p:nvSpPr>
        <p:spPr>
          <a:xfrm>
            <a:off x="6583680" y="2606040"/>
            <a:ext cx="2011680" cy="594360"/>
          </a:xfrm>
          <a:prstGeom prst="rect">
            <a:avLst/>
          </a:prstGeom>
          <a:solidFill>
            <a:srgbClr val="F3F1FA"/>
          </a:solidFill>
          <a:ln/>
        </p:spPr>
      </p:sp>
      <p:sp>
        <p:nvSpPr>
          <p:cNvPr id="15" name="Text 13"/>
          <p:cNvSpPr txBox="1"/>
          <p:nvPr/>
        </p:nvSpPr>
        <p:spPr>
          <a:xfrm>
            <a:off x="685800" y="2606040"/>
            <a:ext cx="3931920" cy="594360"/>
          </a:xfrm>
          <a:prstGeom prst="rect">
            <a:avLst/>
          </a:prstGeom>
          <a:noFill/>
          <a:ln/>
        </p:spPr>
        <p:txBody>
          <a:bodyPr wrap="square" rtlCol="0" anchor="ctr"/>
          <a:lstStyle/>
          <a:p>
            <a:pPr indent="0" marL="0">
              <a:buNone/>
            </a:pPr>
            <a:r>
              <a:rPr lang="en-US" sz="1400" dirty="0">
                <a:solidFill>
                  <a:srgbClr val="1B1340"/>
                </a:solidFill>
              </a:rPr>
              <a:t>4 enkeltbilletter (1 tur)</a:t>
            </a:r>
            <a:endParaRPr lang="en-US" sz="1400" dirty="0"/>
          </a:p>
        </p:txBody>
      </p:sp>
      <p:sp>
        <p:nvSpPr>
          <p:cNvPr id="16" name="Text 14"/>
          <p:cNvSpPr txBox="1"/>
          <p:nvPr/>
        </p:nvSpPr>
        <p:spPr>
          <a:xfrm>
            <a:off x="4754880" y="2606040"/>
            <a:ext cx="1737360" cy="594360"/>
          </a:xfrm>
          <a:prstGeom prst="rect">
            <a:avLst/>
          </a:prstGeom>
          <a:noFill/>
          <a:ln/>
        </p:spPr>
        <p:txBody>
          <a:bodyPr wrap="square" rtlCol="0" anchor="ctr"/>
          <a:lstStyle/>
          <a:p>
            <a:pPr algn="ctr" indent="0" marL="0">
              <a:buNone/>
            </a:pPr>
            <a:r>
              <a:rPr lang="en-US" sz="1400" dirty="0">
                <a:solidFill>
                  <a:srgbClr val="1B1340"/>
                </a:solidFill>
              </a:rPr>
              <a:t>4 × 45</a:t>
            </a:r>
            <a:endParaRPr lang="en-US" sz="1400" dirty="0"/>
          </a:p>
        </p:txBody>
      </p:sp>
      <p:sp>
        <p:nvSpPr>
          <p:cNvPr id="17" name="Text 15"/>
          <p:cNvSpPr txBox="1"/>
          <p:nvPr/>
        </p:nvSpPr>
        <p:spPr>
          <a:xfrm>
            <a:off x="6629400" y="2606040"/>
            <a:ext cx="1874520" cy="594360"/>
          </a:xfrm>
          <a:prstGeom prst="rect">
            <a:avLst/>
          </a:prstGeom>
          <a:noFill/>
          <a:ln/>
        </p:spPr>
        <p:txBody>
          <a:bodyPr wrap="square" rtlCol="0" anchor="ctr"/>
          <a:lstStyle/>
          <a:p>
            <a:pPr algn="ctr" indent="0" marL="0">
              <a:buNone/>
            </a:pPr>
            <a:r>
              <a:rPr lang="en-US" sz="1600" b="1" dirty="0">
                <a:solidFill>
                  <a:srgbClr val="E63946"/>
                </a:solidFill>
              </a:rPr>
              <a:t>180 kr</a:t>
            </a:r>
            <a:endParaRPr lang="en-US" sz="1600" dirty="0"/>
          </a:p>
        </p:txBody>
      </p:sp>
      <p:sp>
        <p:nvSpPr>
          <p:cNvPr id="18" name="Shape 16"/>
          <p:cNvSpPr/>
          <p:nvPr/>
        </p:nvSpPr>
        <p:spPr>
          <a:xfrm>
            <a:off x="548640" y="3246120"/>
            <a:ext cx="4114800" cy="594360"/>
          </a:xfrm>
          <a:prstGeom prst="rect">
            <a:avLst/>
          </a:prstGeom>
          <a:solidFill>
            <a:srgbClr val="F3F1FA"/>
          </a:solidFill>
          <a:ln/>
        </p:spPr>
      </p:sp>
      <p:sp>
        <p:nvSpPr>
          <p:cNvPr id="19" name="Shape 17"/>
          <p:cNvSpPr/>
          <p:nvPr/>
        </p:nvSpPr>
        <p:spPr>
          <a:xfrm>
            <a:off x="4709160" y="3246120"/>
            <a:ext cx="1828800" cy="594360"/>
          </a:xfrm>
          <a:prstGeom prst="rect">
            <a:avLst/>
          </a:prstGeom>
          <a:solidFill>
            <a:srgbClr val="F3F1FA"/>
          </a:solidFill>
          <a:ln/>
        </p:spPr>
      </p:sp>
      <p:sp>
        <p:nvSpPr>
          <p:cNvPr id="20" name="Shape 18"/>
          <p:cNvSpPr/>
          <p:nvPr/>
        </p:nvSpPr>
        <p:spPr>
          <a:xfrm>
            <a:off x="6583680" y="3246120"/>
            <a:ext cx="2011680" cy="594360"/>
          </a:xfrm>
          <a:prstGeom prst="rect">
            <a:avLst/>
          </a:prstGeom>
          <a:solidFill>
            <a:srgbClr val="F3F1FA"/>
          </a:solidFill>
          <a:ln/>
        </p:spPr>
      </p:sp>
      <p:sp>
        <p:nvSpPr>
          <p:cNvPr id="21" name="Text 19"/>
          <p:cNvSpPr txBox="1"/>
          <p:nvPr/>
        </p:nvSpPr>
        <p:spPr>
          <a:xfrm>
            <a:off x="685800" y="3246120"/>
            <a:ext cx="3931920" cy="594360"/>
          </a:xfrm>
          <a:prstGeom prst="rect">
            <a:avLst/>
          </a:prstGeom>
          <a:noFill/>
          <a:ln/>
        </p:spPr>
        <p:txBody>
          <a:bodyPr wrap="square" rtlCol="0" anchor="ctr"/>
          <a:lstStyle/>
          <a:p>
            <a:pPr indent="0" marL="0">
              <a:buNone/>
            </a:pPr>
            <a:r>
              <a:rPr lang="en-US" sz="1400" dirty="0">
                <a:solidFill>
                  <a:srgbClr val="1B1340"/>
                </a:solidFill>
              </a:rPr>
              <a:t>4 enkeltbilletter (7 turer)</a:t>
            </a:r>
            <a:endParaRPr lang="en-US" sz="1400" dirty="0"/>
          </a:p>
        </p:txBody>
      </p:sp>
      <p:sp>
        <p:nvSpPr>
          <p:cNvPr id="22" name="Text 20"/>
          <p:cNvSpPr txBox="1"/>
          <p:nvPr/>
        </p:nvSpPr>
        <p:spPr>
          <a:xfrm>
            <a:off x="4754880" y="3246120"/>
            <a:ext cx="1737360" cy="594360"/>
          </a:xfrm>
          <a:prstGeom prst="rect">
            <a:avLst/>
          </a:prstGeom>
          <a:noFill/>
          <a:ln/>
        </p:spPr>
        <p:txBody>
          <a:bodyPr wrap="square" rtlCol="0" anchor="ctr"/>
          <a:lstStyle/>
          <a:p>
            <a:pPr algn="ctr" indent="0" marL="0">
              <a:buNone/>
            </a:pPr>
            <a:r>
              <a:rPr lang="en-US" sz="1400" dirty="0">
                <a:solidFill>
                  <a:srgbClr val="1B1340"/>
                </a:solidFill>
              </a:rPr>
              <a:t>4 × 7 × 45</a:t>
            </a:r>
            <a:endParaRPr lang="en-US" sz="1400" dirty="0"/>
          </a:p>
        </p:txBody>
      </p:sp>
      <p:sp>
        <p:nvSpPr>
          <p:cNvPr id="23" name="Text 21"/>
          <p:cNvSpPr txBox="1"/>
          <p:nvPr/>
        </p:nvSpPr>
        <p:spPr>
          <a:xfrm>
            <a:off x="6629400" y="3246120"/>
            <a:ext cx="1874520" cy="594360"/>
          </a:xfrm>
          <a:prstGeom prst="rect">
            <a:avLst/>
          </a:prstGeom>
          <a:noFill/>
          <a:ln/>
        </p:spPr>
        <p:txBody>
          <a:bodyPr wrap="square" rtlCol="0" anchor="ctr"/>
          <a:lstStyle/>
          <a:p>
            <a:pPr algn="ctr" indent="0" marL="0">
              <a:buNone/>
            </a:pPr>
            <a:r>
              <a:rPr lang="en-US" sz="1600" b="1" dirty="0">
                <a:solidFill>
                  <a:srgbClr val="E63946"/>
                </a:solidFill>
              </a:rPr>
              <a:t>1 260 kr</a:t>
            </a:r>
            <a:endParaRPr lang="en-US" sz="1600" dirty="0"/>
          </a:p>
        </p:txBody>
      </p:sp>
      <p:sp>
        <p:nvSpPr>
          <p:cNvPr id="24" name="Shape 22"/>
          <p:cNvSpPr/>
          <p:nvPr/>
        </p:nvSpPr>
        <p:spPr>
          <a:xfrm>
            <a:off x="548640" y="3886200"/>
            <a:ext cx="4114800" cy="594360"/>
          </a:xfrm>
          <a:prstGeom prst="rect">
            <a:avLst/>
          </a:prstGeom>
          <a:solidFill>
            <a:srgbClr val="2A9D8F"/>
          </a:solidFill>
          <a:ln/>
        </p:spPr>
      </p:sp>
      <p:sp>
        <p:nvSpPr>
          <p:cNvPr id="25" name="Shape 23"/>
          <p:cNvSpPr/>
          <p:nvPr/>
        </p:nvSpPr>
        <p:spPr>
          <a:xfrm>
            <a:off x="4709160" y="3886200"/>
            <a:ext cx="1828800" cy="594360"/>
          </a:xfrm>
          <a:prstGeom prst="rect">
            <a:avLst/>
          </a:prstGeom>
          <a:solidFill>
            <a:srgbClr val="2A9D8F"/>
          </a:solidFill>
          <a:ln/>
        </p:spPr>
      </p:sp>
      <p:sp>
        <p:nvSpPr>
          <p:cNvPr id="26" name="Shape 24"/>
          <p:cNvSpPr/>
          <p:nvPr/>
        </p:nvSpPr>
        <p:spPr>
          <a:xfrm>
            <a:off x="6583680" y="3886200"/>
            <a:ext cx="2011680" cy="594360"/>
          </a:xfrm>
          <a:prstGeom prst="rect">
            <a:avLst/>
          </a:prstGeom>
          <a:solidFill>
            <a:srgbClr val="2A9D8F"/>
          </a:solidFill>
          <a:ln/>
        </p:spPr>
      </p:sp>
      <p:sp>
        <p:nvSpPr>
          <p:cNvPr id="27" name="Text 25"/>
          <p:cNvSpPr txBox="1"/>
          <p:nvPr/>
        </p:nvSpPr>
        <p:spPr>
          <a:xfrm>
            <a:off x="685800" y="3886200"/>
            <a:ext cx="3931920" cy="594360"/>
          </a:xfrm>
          <a:prstGeom prst="rect">
            <a:avLst/>
          </a:prstGeom>
          <a:noFill/>
          <a:ln/>
        </p:spPr>
        <p:txBody>
          <a:bodyPr wrap="square" rtlCol="0" anchor="ctr"/>
          <a:lstStyle/>
          <a:p>
            <a:pPr indent="0" marL="0">
              <a:buNone/>
            </a:pPr>
            <a:r>
              <a:rPr lang="en-US" sz="1400" dirty="0">
                <a:solidFill>
                  <a:srgbClr val="FFFFFF"/>
                </a:solidFill>
              </a:rPr>
              <a:t>4 rabatthefter (7 turer)</a:t>
            </a:r>
            <a:endParaRPr lang="en-US" sz="1400" dirty="0"/>
          </a:p>
        </p:txBody>
      </p:sp>
      <p:sp>
        <p:nvSpPr>
          <p:cNvPr id="28" name="Text 26"/>
          <p:cNvSpPr txBox="1"/>
          <p:nvPr/>
        </p:nvSpPr>
        <p:spPr>
          <a:xfrm>
            <a:off x="4754880" y="3886200"/>
            <a:ext cx="1737360" cy="594360"/>
          </a:xfrm>
          <a:prstGeom prst="rect">
            <a:avLst/>
          </a:prstGeom>
          <a:noFill/>
          <a:ln/>
        </p:spPr>
        <p:txBody>
          <a:bodyPr wrap="square" rtlCol="0" anchor="ctr"/>
          <a:lstStyle/>
          <a:p>
            <a:pPr algn="ctr" indent="0" marL="0">
              <a:buNone/>
            </a:pPr>
            <a:r>
              <a:rPr lang="en-US" sz="1400" dirty="0">
                <a:solidFill>
                  <a:srgbClr val="FFFFFF"/>
                </a:solidFill>
              </a:rPr>
              <a:t>4 × 260</a:t>
            </a:r>
            <a:endParaRPr lang="en-US" sz="1400" dirty="0"/>
          </a:p>
        </p:txBody>
      </p:sp>
      <p:sp>
        <p:nvSpPr>
          <p:cNvPr id="29" name="Text 27"/>
          <p:cNvSpPr txBox="1"/>
          <p:nvPr/>
        </p:nvSpPr>
        <p:spPr>
          <a:xfrm>
            <a:off x="6629400" y="3886200"/>
            <a:ext cx="1874520" cy="594360"/>
          </a:xfrm>
          <a:prstGeom prst="rect">
            <a:avLst/>
          </a:prstGeom>
          <a:noFill/>
          <a:ln/>
        </p:spPr>
        <p:txBody>
          <a:bodyPr wrap="square" rtlCol="0" anchor="ctr"/>
          <a:lstStyle/>
          <a:p>
            <a:pPr algn="ctr" indent="0" marL="0">
              <a:buNone/>
            </a:pPr>
            <a:r>
              <a:rPr lang="en-US" sz="1600" b="1" dirty="0">
                <a:solidFill>
                  <a:srgbClr val="F4B400"/>
                </a:solidFill>
              </a:rPr>
              <a:t>1 040 kr</a:t>
            </a:r>
            <a:endParaRPr lang="en-US" sz="1600" dirty="0"/>
          </a:p>
        </p:txBody>
      </p:sp>
      <p:sp>
        <p:nvSpPr>
          <p:cNvPr id="30" name="Shape 28"/>
          <p:cNvSpPr/>
          <p:nvPr/>
        </p:nvSpPr>
        <p:spPr>
          <a:xfrm>
            <a:off x="548640" y="4572000"/>
            <a:ext cx="8046720" cy="457200"/>
          </a:xfrm>
          <a:prstGeom prst="roundRect">
            <a:avLst>
              <a:gd name="adj" fmla="val 20000"/>
            </a:avLst>
          </a:prstGeom>
          <a:solidFill>
            <a:srgbClr val="1B1340"/>
          </a:solidFill>
          <a:ln/>
        </p:spPr>
      </p:sp>
      <p:sp>
        <p:nvSpPr>
          <p:cNvPr id="31" name="Text 29"/>
          <p:cNvSpPr txBox="1"/>
          <p:nvPr/>
        </p:nvSpPr>
        <p:spPr>
          <a:xfrm>
            <a:off x="640080" y="4572000"/>
            <a:ext cx="7863840" cy="457200"/>
          </a:xfrm>
          <a:prstGeom prst="rect">
            <a:avLst/>
          </a:prstGeom>
          <a:noFill/>
          <a:ln/>
        </p:spPr>
        <p:txBody>
          <a:bodyPr wrap="square" rtlCol="0" anchor="ctr"/>
          <a:lstStyle/>
          <a:p>
            <a:pPr algn="ctr" indent="0" marL="0">
              <a:buNone/>
            </a:pPr>
            <a:r>
              <a:rPr lang="en-US" sz="1700" b="1" dirty="0">
                <a:solidFill>
                  <a:srgbClr val="F4B400"/>
                </a:solidFill>
              </a:rPr>
              <a:t>Familien sparer: 1 260 − 1 040 = 220 kr med rabatthefte!</a:t>
            </a:r>
            <a:endParaRPr lang="en-US" sz="17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640080"/>
            <a:ext cx="8046720" cy="731520"/>
          </a:xfrm>
          <a:prstGeom prst="rect">
            <a:avLst/>
          </a:prstGeom>
          <a:noFill/>
          <a:ln/>
        </p:spPr>
        <p:txBody>
          <a:bodyPr wrap="square" rtlCol="0" anchor="ctr"/>
          <a:lstStyle/>
          <a:p>
            <a:pPr algn="ctr" indent="0" marL="0">
              <a:buNone/>
            </a:pPr>
            <a:r>
              <a:rPr lang="en-US" sz="4000" b="1" dirty="0">
                <a:solidFill>
                  <a:srgbClr val="FFFFFF"/>
                </a:solidFill>
              </a:rPr>
              <a:t>Konklusjon</a:t>
            </a:r>
            <a:endParaRPr lang="en-US" sz="4000" dirty="0"/>
          </a:p>
        </p:txBody>
      </p:sp>
      <p:sp>
        <p:nvSpPr>
          <p:cNvPr id="3" name="Shape 1"/>
          <p:cNvSpPr/>
          <p:nvPr/>
        </p:nvSpPr>
        <p:spPr>
          <a:xfrm>
            <a:off x="548640" y="1508760"/>
            <a:ext cx="128016" cy="128016"/>
          </a:xfrm>
          <a:prstGeom prst="ellipse">
            <a:avLst/>
          </a:prstGeom>
          <a:solidFill>
            <a:srgbClr val="E63946"/>
          </a:solidFill>
          <a:ln/>
        </p:spPr>
      </p:sp>
      <p:sp>
        <p:nvSpPr>
          <p:cNvPr id="4" name="Shape 2"/>
          <p:cNvSpPr/>
          <p:nvPr/>
        </p:nvSpPr>
        <p:spPr>
          <a:xfrm>
            <a:off x="1005840" y="1508760"/>
            <a:ext cx="128016" cy="128016"/>
          </a:xfrm>
          <a:prstGeom prst="ellipse">
            <a:avLst/>
          </a:prstGeom>
          <a:solidFill>
            <a:srgbClr val="F4B400"/>
          </a:solidFill>
          <a:ln/>
        </p:spPr>
      </p:sp>
      <p:sp>
        <p:nvSpPr>
          <p:cNvPr id="5" name="Shape 3"/>
          <p:cNvSpPr/>
          <p:nvPr/>
        </p:nvSpPr>
        <p:spPr>
          <a:xfrm>
            <a:off x="1463040" y="1508760"/>
            <a:ext cx="128016" cy="128016"/>
          </a:xfrm>
          <a:prstGeom prst="ellipse">
            <a:avLst/>
          </a:prstGeom>
          <a:solidFill>
            <a:srgbClr val="2A9D8F"/>
          </a:solidFill>
          <a:ln/>
        </p:spPr>
      </p:sp>
      <p:sp>
        <p:nvSpPr>
          <p:cNvPr id="6" name="Shape 4"/>
          <p:cNvSpPr/>
          <p:nvPr/>
        </p:nvSpPr>
        <p:spPr>
          <a:xfrm>
            <a:off x="1920240" y="1508760"/>
            <a:ext cx="128016" cy="128016"/>
          </a:xfrm>
          <a:prstGeom prst="ellipse">
            <a:avLst/>
          </a:prstGeom>
          <a:solidFill>
            <a:srgbClr val="3A6EA5"/>
          </a:solidFill>
          <a:ln/>
        </p:spPr>
      </p:sp>
      <p:sp>
        <p:nvSpPr>
          <p:cNvPr id="7" name="Shape 5"/>
          <p:cNvSpPr/>
          <p:nvPr/>
        </p:nvSpPr>
        <p:spPr>
          <a:xfrm>
            <a:off x="2377440" y="1508760"/>
            <a:ext cx="128016" cy="128016"/>
          </a:xfrm>
          <a:prstGeom prst="ellipse">
            <a:avLst/>
          </a:prstGeom>
          <a:solidFill>
            <a:srgbClr val="8E44AD"/>
          </a:solidFill>
          <a:ln/>
        </p:spPr>
      </p:sp>
      <p:sp>
        <p:nvSpPr>
          <p:cNvPr id="8" name="Shape 6"/>
          <p:cNvSpPr/>
          <p:nvPr/>
        </p:nvSpPr>
        <p:spPr>
          <a:xfrm>
            <a:off x="2834640" y="1508760"/>
            <a:ext cx="128016" cy="128016"/>
          </a:xfrm>
          <a:prstGeom prst="ellipse">
            <a:avLst/>
          </a:prstGeom>
          <a:solidFill>
            <a:srgbClr val="F77F00"/>
          </a:solidFill>
          <a:ln/>
        </p:spPr>
      </p:sp>
      <p:sp>
        <p:nvSpPr>
          <p:cNvPr id="9" name="Shape 7"/>
          <p:cNvSpPr/>
          <p:nvPr/>
        </p:nvSpPr>
        <p:spPr>
          <a:xfrm>
            <a:off x="3291840" y="1508760"/>
            <a:ext cx="128016" cy="128016"/>
          </a:xfrm>
          <a:prstGeom prst="ellipse">
            <a:avLst/>
          </a:prstGeom>
          <a:solidFill>
            <a:srgbClr val="E63946"/>
          </a:solidFill>
          <a:ln/>
        </p:spPr>
      </p:sp>
      <p:sp>
        <p:nvSpPr>
          <p:cNvPr id="10" name="Shape 8"/>
          <p:cNvSpPr/>
          <p:nvPr/>
        </p:nvSpPr>
        <p:spPr>
          <a:xfrm>
            <a:off x="3749040" y="1508760"/>
            <a:ext cx="128016" cy="128016"/>
          </a:xfrm>
          <a:prstGeom prst="ellipse">
            <a:avLst/>
          </a:prstGeom>
          <a:solidFill>
            <a:srgbClr val="F4B400"/>
          </a:solidFill>
          <a:ln/>
        </p:spPr>
      </p:sp>
      <p:sp>
        <p:nvSpPr>
          <p:cNvPr id="11" name="Shape 9"/>
          <p:cNvSpPr/>
          <p:nvPr/>
        </p:nvSpPr>
        <p:spPr>
          <a:xfrm>
            <a:off x="4206240" y="1508760"/>
            <a:ext cx="128016" cy="128016"/>
          </a:xfrm>
          <a:prstGeom prst="ellipse">
            <a:avLst/>
          </a:prstGeom>
          <a:solidFill>
            <a:srgbClr val="2A9D8F"/>
          </a:solidFill>
          <a:ln/>
        </p:spPr>
      </p:sp>
      <p:sp>
        <p:nvSpPr>
          <p:cNvPr id="12" name="Shape 10"/>
          <p:cNvSpPr/>
          <p:nvPr/>
        </p:nvSpPr>
        <p:spPr>
          <a:xfrm>
            <a:off x="4663440" y="1508760"/>
            <a:ext cx="128016" cy="128016"/>
          </a:xfrm>
          <a:prstGeom prst="ellipse">
            <a:avLst/>
          </a:prstGeom>
          <a:solidFill>
            <a:srgbClr val="3A6EA5"/>
          </a:solidFill>
          <a:ln/>
        </p:spPr>
      </p:sp>
      <p:sp>
        <p:nvSpPr>
          <p:cNvPr id="13" name="Shape 11"/>
          <p:cNvSpPr/>
          <p:nvPr/>
        </p:nvSpPr>
        <p:spPr>
          <a:xfrm>
            <a:off x="5120640" y="1508760"/>
            <a:ext cx="128016" cy="128016"/>
          </a:xfrm>
          <a:prstGeom prst="ellipse">
            <a:avLst/>
          </a:prstGeom>
          <a:solidFill>
            <a:srgbClr val="8E44AD"/>
          </a:solidFill>
          <a:ln/>
        </p:spPr>
      </p:sp>
      <p:sp>
        <p:nvSpPr>
          <p:cNvPr id="14" name="Shape 12"/>
          <p:cNvSpPr/>
          <p:nvPr/>
        </p:nvSpPr>
        <p:spPr>
          <a:xfrm>
            <a:off x="5577840" y="1508760"/>
            <a:ext cx="128016" cy="128016"/>
          </a:xfrm>
          <a:prstGeom prst="ellipse">
            <a:avLst/>
          </a:prstGeom>
          <a:solidFill>
            <a:srgbClr val="F77F00"/>
          </a:solidFill>
          <a:ln/>
        </p:spPr>
      </p:sp>
      <p:sp>
        <p:nvSpPr>
          <p:cNvPr id="15" name="Shape 13"/>
          <p:cNvSpPr/>
          <p:nvPr/>
        </p:nvSpPr>
        <p:spPr>
          <a:xfrm>
            <a:off x="6035040" y="1508760"/>
            <a:ext cx="128016" cy="128016"/>
          </a:xfrm>
          <a:prstGeom prst="ellipse">
            <a:avLst/>
          </a:prstGeom>
          <a:solidFill>
            <a:srgbClr val="E63946"/>
          </a:solidFill>
          <a:ln/>
        </p:spPr>
      </p:sp>
      <p:sp>
        <p:nvSpPr>
          <p:cNvPr id="16" name="Shape 14"/>
          <p:cNvSpPr/>
          <p:nvPr/>
        </p:nvSpPr>
        <p:spPr>
          <a:xfrm>
            <a:off x="6492240" y="1508760"/>
            <a:ext cx="128016" cy="128016"/>
          </a:xfrm>
          <a:prstGeom prst="ellipse">
            <a:avLst/>
          </a:prstGeom>
          <a:solidFill>
            <a:srgbClr val="F4B400"/>
          </a:solidFill>
          <a:ln/>
        </p:spPr>
      </p:sp>
      <p:sp>
        <p:nvSpPr>
          <p:cNvPr id="17" name="Shape 15"/>
          <p:cNvSpPr/>
          <p:nvPr/>
        </p:nvSpPr>
        <p:spPr>
          <a:xfrm>
            <a:off x="6949440" y="1508760"/>
            <a:ext cx="128016" cy="128016"/>
          </a:xfrm>
          <a:prstGeom prst="ellipse">
            <a:avLst/>
          </a:prstGeom>
          <a:solidFill>
            <a:srgbClr val="2A9D8F"/>
          </a:solidFill>
          <a:ln/>
        </p:spPr>
      </p:sp>
      <p:sp>
        <p:nvSpPr>
          <p:cNvPr id="18" name="Shape 16"/>
          <p:cNvSpPr/>
          <p:nvPr/>
        </p:nvSpPr>
        <p:spPr>
          <a:xfrm>
            <a:off x="7406640" y="1508760"/>
            <a:ext cx="128016" cy="128016"/>
          </a:xfrm>
          <a:prstGeom prst="ellipse">
            <a:avLst/>
          </a:prstGeom>
          <a:solidFill>
            <a:srgbClr val="3A6EA5"/>
          </a:solidFill>
          <a:ln/>
        </p:spPr>
      </p:sp>
      <p:sp>
        <p:nvSpPr>
          <p:cNvPr id="19" name="Shape 17"/>
          <p:cNvSpPr/>
          <p:nvPr/>
        </p:nvSpPr>
        <p:spPr>
          <a:xfrm>
            <a:off x="7863840" y="1508760"/>
            <a:ext cx="128016" cy="128016"/>
          </a:xfrm>
          <a:prstGeom prst="ellipse">
            <a:avLst/>
          </a:prstGeom>
          <a:solidFill>
            <a:srgbClr val="8E44AD"/>
          </a:solidFill>
          <a:ln/>
        </p:spPr>
      </p:sp>
      <p:sp>
        <p:nvSpPr>
          <p:cNvPr id="20" name="Shape 18"/>
          <p:cNvSpPr/>
          <p:nvPr/>
        </p:nvSpPr>
        <p:spPr>
          <a:xfrm>
            <a:off x="8321040" y="1508760"/>
            <a:ext cx="128016" cy="128016"/>
          </a:xfrm>
          <a:prstGeom prst="ellipse">
            <a:avLst/>
          </a:prstGeom>
          <a:solidFill>
            <a:srgbClr val="F77F00"/>
          </a:solidFill>
          <a:ln/>
        </p:spPr>
      </p:sp>
      <p:sp>
        <p:nvSpPr>
          <p:cNvPr id="21" name="Shape 19"/>
          <p:cNvSpPr/>
          <p:nvPr/>
        </p:nvSpPr>
        <p:spPr>
          <a:xfrm>
            <a:off x="457200" y="1828800"/>
            <a:ext cx="2743200" cy="2377440"/>
          </a:xfrm>
          <a:prstGeom prst="roundRect">
            <a:avLst>
              <a:gd name="adj" fmla="val 6923"/>
            </a:avLst>
          </a:prstGeom>
          <a:solidFill>
            <a:srgbClr val="2A1F5C"/>
          </a:solidFill>
          <a:ln w="19050">
            <a:solidFill>
              <a:srgbClr val="E63946"/>
            </a:solidFill>
            <a:prstDash val="solid"/>
          </a:ln>
        </p:spPr>
      </p:sp>
      <p:sp>
        <p:nvSpPr>
          <p:cNvPr id="22" name="Text 20"/>
          <p:cNvSpPr txBox="1"/>
          <p:nvPr/>
        </p:nvSpPr>
        <p:spPr>
          <a:xfrm>
            <a:off x="457200" y="1920240"/>
            <a:ext cx="2743200" cy="54864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23" name="Text 21"/>
          <p:cNvSpPr txBox="1"/>
          <p:nvPr/>
        </p:nvSpPr>
        <p:spPr>
          <a:xfrm>
            <a:off x="457200" y="2514600"/>
            <a:ext cx="2743200" cy="457200"/>
          </a:xfrm>
          <a:prstGeom prst="rect">
            <a:avLst/>
          </a:prstGeom>
          <a:noFill/>
          <a:ln/>
        </p:spPr>
        <p:txBody>
          <a:bodyPr wrap="square" rtlCol="0" anchor="ctr"/>
          <a:lstStyle/>
          <a:p>
            <a:pPr algn="ctr" indent="0" marL="0">
              <a:buNone/>
            </a:pPr>
            <a:r>
              <a:rPr lang="en-US" sz="1600" b="1" dirty="0">
                <a:solidFill>
                  <a:srgbClr val="E63946"/>
                </a:solidFill>
              </a:rPr>
              <a:t>Tall og algebra</a:t>
            </a:r>
            <a:endParaRPr lang="en-US" sz="1600" dirty="0"/>
          </a:p>
        </p:txBody>
      </p:sp>
      <p:sp>
        <p:nvSpPr>
          <p:cNvPr id="24" name="Text 22"/>
          <p:cNvSpPr txBox="1"/>
          <p:nvPr/>
        </p:nvSpPr>
        <p:spPr>
          <a:xfrm>
            <a:off x="594360" y="3017520"/>
            <a:ext cx="2468880" cy="822960"/>
          </a:xfrm>
          <a:prstGeom prst="rect">
            <a:avLst/>
          </a:prstGeom>
          <a:noFill/>
          <a:ln/>
        </p:spPr>
        <p:txBody>
          <a:bodyPr wrap="square" rtlCol="0" anchor="ctr"/>
          <a:lstStyle/>
          <a:p>
            <a:pPr algn="ctr" indent="0" marL="0">
              <a:lnSpc>
                <a:spcPct val="120000"/>
              </a:lnSpc>
              <a:buNone/>
            </a:pPr>
            <a:r>
              <a:rPr lang="en-US" sz="1400" dirty="0">
                <a:solidFill>
                  <a:srgbClr val="FFFFFF"/>
                </a:solidFill>
              </a:rPr>
              <a:t>Priser, rabatter og regnestykker</a:t>
            </a:r>
            <a:endParaRPr lang="en-US" sz="1400" dirty="0"/>
          </a:p>
        </p:txBody>
      </p:sp>
      <p:sp>
        <p:nvSpPr>
          <p:cNvPr id="25" name="Shape 23"/>
          <p:cNvSpPr/>
          <p:nvPr/>
        </p:nvSpPr>
        <p:spPr>
          <a:xfrm>
            <a:off x="3337560" y="1828800"/>
            <a:ext cx="2743200" cy="2377440"/>
          </a:xfrm>
          <a:prstGeom prst="roundRect">
            <a:avLst>
              <a:gd name="adj" fmla="val 6923"/>
            </a:avLst>
          </a:prstGeom>
          <a:solidFill>
            <a:srgbClr val="2A1F5C"/>
          </a:solidFill>
          <a:ln w="19050">
            <a:solidFill>
              <a:srgbClr val="F4B400"/>
            </a:solidFill>
            <a:prstDash val="solid"/>
          </a:ln>
        </p:spPr>
      </p:sp>
      <p:sp>
        <p:nvSpPr>
          <p:cNvPr id="26" name="Text 24"/>
          <p:cNvSpPr txBox="1"/>
          <p:nvPr/>
        </p:nvSpPr>
        <p:spPr>
          <a:xfrm>
            <a:off x="3337560" y="1920240"/>
            <a:ext cx="2743200" cy="54864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27" name="Text 25"/>
          <p:cNvSpPr txBox="1"/>
          <p:nvPr/>
        </p:nvSpPr>
        <p:spPr>
          <a:xfrm>
            <a:off x="3337560" y="2514600"/>
            <a:ext cx="2743200" cy="457200"/>
          </a:xfrm>
          <a:prstGeom prst="rect">
            <a:avLst/>
          </a:prstGeom>
          <a:noFill/>
          <a:ln/>
        </p:spPr>
        <p:txBody>
          <a:bodyPr wrap="square" rtlCol="0" anchor="ctr"/>
          <a:lstStyle/>
          <a:p>
            <a:pPr algn="ctr" indent="0" marL="0">
              <a:buNone/>
            </a:pPr>
            <a:r>
              <a:rPr lang="en-US" sz="1600" b="1" dirty="0">
                <a:solidFill>
                  <a:srgbClr val="F4B400"/>
                </a:solidFill>
              </a:rPr>
              <a:t>Sannsynlighet</a:t>
            </a:r>
            <a:endParaRPr lang="en-US" sz="1600" dirty="0"/>
          </a:p>
        </p:txBody>
      </p:sp>
      <p:sp>
        <p:nvSpPr>
          <p:cNvPr id="28" name="Text 26"/>
          <p:cNvSpPr txBox="1"/>
          <p:nvPr/>
        </p:nvSpPr>
        <p:spPr>
          <a:xfrm>
            <a:off x="3474720" y="3017520"/>
            <a:ext cx="2468880" cy="822960"/>
          </a:xfrm>
          <a:prstGeom prst="rect">
            <a:avLst/>
          </a:prstGeom>
          <a:noFill/>
          <a:ln/>
        </p:spPr>
        <p:txBody>
          <a:bodyPr wrap="square" rtlCol="0" anchor="ctr"/>
          <a:lstStyle/>
          <a:p>
            <a:pPr algn="ctr" indent="0" marL="0">
              <a:lnSpc>
                <a:spcPct val="120000"/>
              </a:lnSpc>
              <a:buNone/>
            </a:pPr>
            <a:r>
              <a:rPr lang="en-US" sz="1400" dirty="0">
                <a:solidFill>
                  <a:srgbClr val="FFFFFF"/>
                </a:solidFill>
              </a:rPr>
              <a:t>Lykkehjulet – P = 3/12 = 25 %</a:t>
            </a:r>
            <a:endParaRPr lang="en-US" sz="1400" dirty="0"/>
          </a:p>
        </p:txBody>
      </p:sp>
      <p:sp>
        <p:nvSpPr>
          <p:cNvPr id="29" name="Shape 27"/>
          <p:cNvSpPr/>
          <p:nvPr/>
        </p:nvSpPr>
        <p:spPr>
          <a:xfrm>
            <a:off x="6217920" y="1828800"/>
            <a:ext cx="2743200" cy="2377440"/>
          </a:xfrm>
          <a:prstGeom prst="roundRect">
            <a:avLst>
              <a:gd name="adj" fmla="val 6923"/>
            </a:avLst>
          </a:prstGeom>
          <a:solidFill>
            <a:srgbClr val="2A1F5C"/>
          </a:solidFill>
          <a:ln w="19050">
            <a:solidFill>
              <a:srgbClr val="2A9D8F"/>
            </a:solidFill>
            <a:prstDash val="solid"/>
          </a:ln>
        </p:spPr>
      </p:sp>
      <p:sp>
        <p:nvSpPr>
          <p:cNvPr id="30" name="Text 28"/>
          <p:cNvSpPr txBox="1"/>
          <p:nvPr/>
        </p:nvSpPr>
        <p:spPr>
          <a:xfrm>
            <a:off x="6217920" y="1920240"/>
            <a:ext cx="2743200" cy="54864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31" name="Text 29"/>
          <p:cNvSpPr txBox="1"/>
          <p:nvPr/>
        </p:nvSpPr>
        <p:spPr>
          <a:xfrm>
            <a:off x="6217920" y="2514600"/>
            <a:ext cx="2743200" cy="457200"/>
          </a:xfrm>
          <a:prstGeom prst="rect">
            <a:avLst/>
          </a:prstGeom>
          <a:noFill/>
          <a:ln/>
        </p:spPr>
        <p:txBody>
          <a:bodyPr wrap="square" rtlCol="0" anchor="ctr"/>
          <a:lstStyle/>
          <a:p>
            <a:pPr algn="ctr" indent="0" marL="0">
              <a:buNone/>
            </a:pPr>
            <a:r>
              <a:rPr lang="en-US" sz="1600" b="1" dirty="0">
                <a:solidFill>
                  <a:srgbClr val="2A9D8F"/>
                </a:solidFill>
              </a:rPr>
              <a:t>Geometri</a:t>
            </a:r>
            <a:endParaRPr lang="en-US" sz="1600" dirty="0"/>
          </a:p>
        </p:txBody>
      </p:sp>
      <p:sp>
        <p:nvSpPr>
          <p:cNvPr id="32" name="Text 30"/>
          <p:cNvSpPr txBox="1"/>
          <p:nvPr/>
        </p:nvSpPr>
        <p:spPr>
          <a:xfrm>
            <a:off x="6355080" y="3017520"/>
            <a:ext cx="2468880" cy="822960"/>
          </a:xfrm>
          <a:prstGeom prst="rect">
            <a:avLst/>
          </a:prstGeom>
          <a:noFill/>
          <a:ln/>
        </p:spPr>
        <p:txBody>
          <a:bodyPr wrap="square" rtlCol="0" anchor="ctr"/>
          <a:lstStyle/>
          <a:p>
            <a:pPr algn="ctr" indent="0" marL="0">
              <a:lnSpc>
                <a:spcPct val="120000"/>
              </a:lnSpc>
              <a:buNone/>
            </a:pPr>
            <a:r>
              <a:rPr lang="en-US" sz="1400" dirty="0">
                <a:solidFill>
                  <a:srgbClr val="FFFFFF"/>
                </a:solidFill>
              </a:rPr>
              <a:t>Omkrets og radius på pariserhjulet</a:t>
            </a:r>
            <a:endParaRPr lang="en-US" sz="1400" dirty="0"/>
          </a:p>
        </p:txBody>
      </p:sp>
      <p:sp>
        <p:nvSpPr>
          <p:cNvPr id="33" name="Shape 31"/>
          <p:cNvSpPr/>
          <p:nvPr/>
        </p:nvSpPr>
        <p:spPr>
          <a:xfrm>
            <a:off x="1371600" y="4434840"/>
            <a:ext cx="6400800" cy="548640"/>
          </a:xfrm>
          <a:prstGeom prst="roundRect">
            <a:avLst>
              <a:gd name="adj" fmla="val 20000"/>
            </a:avLst>
          </a:prstGeom>
          <a:solidFill>
            <a:srgbClr val="F4B400"/>
          </a:solidFill>
          <a:ln/>
        </p:spPr>
      </p:sp>
      <p:sp>
        <p:nvSpPr>
          <p:cNvPr id="34" name="Text 32"/>
          <p:cNvSpPr txBox="1"/>
          <p:nvPr/>
        </p:nvSpPr>
        <p:spPr>
          <a:xfrm>
            <a:off x="1371600" y="4434840"/>
            <a:ext cx="6400800" cy="548640"/>
          </a:xfrm>
          <a:prstGeom prst="rect">
            <a:avLst/>
          </a:prstGeom>
          <a:noFill/>
          <a:ln/>
        </p:spPr>
        <p:txBody>
          <a:bodyPr wrap="square" rtlCol="0" anchor="ctr"/>
          <a:lstStyle/>
          <a:p>
            <a:pPr algn="ctr" indent="0" marL="0">
              <a:buNone/>
            </a:pPr>
            <a:r>
              <a:rPr lang="en-US" sz="1800" b="1" dirty="0">
                <a:solidFill>
                  <a:srgbClr val="1B1340"/>
                </a:solidFill>
              </a:rPr>
              <a:t>Ja – det er masse matematikk på tivoli! Gratis inngang!</a:t>
            </a:r>
            <a:endParaRPr lang="en-US" sz="1800" dirty="0"/>
          </a:p>
        </p:txBody>
      </p:sp>
      <p:sp>
        <p:nvSpPr>
          <p:cNvPr id="36" name="Text 0"/>
          <p:cNvSpPr/>
          <p:nvPr>
            <p:ph idx="100" type="title" hasCustomPrompt="1"/>
          </p:nvPr>
        </p:nvSpPr>
        <p:spPr>
          <a:xfrm>
            <a:off x="548640" y="1463040"/>
            <a:ext cx="8046720" cy="1097280"/>
          </a:xfrm>
          <a:prstGeom prst="rect">
            <a:avLst/>
          </a:prstGeom>
          <a:noFill/>
          <a:ln/>
        </p:spPr>
        <p:txBody>
          <a:bodyPr wrap="square" rtlCol="0" anchor="ctr"/>
          <a:lstStyle/>
          <a:p>
            <a:pPr algn="ctr" indent="0" marL="0">
              <a:buNone/>
            </a:pPr>
            <a:endParaRPr lang="en-US" sz="5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8046720" cy="731520"/>
          </a:xfrm>
          <a:prstGeom prst="rect">
            <a:avLst/>
          </a:prstGeom>
          <a:noFill/>
          <a:ln/>
        </p:spPr>
        <p:txBody>
          <a:bodyPr wrap="square" lIns="0" tIns="0" rIns="0" bIns="0" rtlCol="0" anchor="ctr"/>
          <a:lstStyle/>
          <a:p>
            <a:pPr indent="0" marL="0">
              <a:buNone/>
            </a:pPr>
            <a:r>
              <a:rPr lang="en-US" sz="3600" b="1" dirty="0">
                <a:solidFill>
                  <a:srgbClr val="1B1340"/>
                </a:solidFill>
              </a:rPr>
              <a:t>Kilder</a:t>
            </a:r>
            <a:endParaRPr lang="en-US" sz="3600" dirty="0"/>
          </a:p>
        </p:txBody>
      </p:sp>
      <p:sp>
        <p:nvSpPr>
          <p:cNvPr id="3" name="Shape 1"/>
          <p:cNvSpPr/>
          <p:nvPr/>
        </p:nvSpPr>
        <p:spPr>
          <a:xfrm>
            <a:off x="548640" y="1051560"/>
            <a:ext cx="8046720" cy="54864"/>
          </a:xfrm>
          <a:prstGeom prst="rect">
            <a:avLst/>
          </a:prstGeom>
          <a:solidFill>
            <a:srgbClr val="8A84A8"/>
          </a:solidFill>
          <a:ln/>
        </p:spPr>
      </p:sp>
      <p:sp>
        <p:nvSpPr>
          <p:cNvPr id="4" name="Shape 2"/>
          <p:cNvSpPr/>
          <p:nvPr/>
        </p:nvSpPr>
        <p:spPr>
          <a:xfrm>
            <a:off x="548640" y="1280160"/>
            <a:ext cx="411480" cy="685800"/>
          </a:xfrm>
          <a:prstGeom prst="roundRect">
            <a:avLst>
              <a:gd name="adj" fmla="val 22222"/>
            </a:avLst>
          </a:prstGeom>
          <a:solidFill>
            <a:srgbClr val="E63946"/>
          </a:solidFill>
          <a:ln/>
        </p:spPr>
      </p:sp>
      <p:sp>
        <p:nvSpPr>
          <p:cNvPr id="5" name="Text 3"/>
          <p:cNvSpPr txBox="1"/>
          <p:nvPr/>
        </p:nvSpPr>
        <p:spPr>
          <a:xfrm>
            <a:off x="548640" y="1280160"/>
            <a:ext cx="411480" cy="685800"/>
          </a:xfrm>
          <a:prstGeom prst="rect">
            <a:avLst/>
          </a:prstGeom>
          <a:noFill/>
          <a:ln/>
        </p:spPr>
        <p:txBody>
          <a:bodyPr wrap="square" rtlCol="0" anchor="ctr"/>
          <a:lstStyle/>
          <a:p>
            <a:pPr algn="ctr" indent="0" marL="0">
              <a:buNone/>
            </a:pPr>
            <a:r>
              <a:rPr lang="en-US" sz="1800" b="1" dirty="0">
                <a:solidFill>
                  <a:srgbClr val="FFFFFF"/>
                </a:solidFill>
              </a:rPr>
              <a:t>1</a:t>
            </a:r>
            <a:endParaRPr lang="en-US" sz="1800" dirty="0"/>
          </a:p>
        </p:txBody>
      </p:sp>
      <p:sp>
        <p:nvSpPr>
          <p:cNvPr id="6" name="Shape 4"/>
          <p:cNvSpPr/>
          <p:nvPr/>
        </p:nvSpPr>
        <p:spPr>
          <a:xfrm>
            <a:off x="1097280" y="1280160"/>
            <a:ext cx="7406640" cy="685800"/>
          </a:xfrm>
          <a:prstGeom prst="roundRect">
            <a:avLst>
              <a:gd name="adj" fmla="val 13333"/>
            </a:avLst>
          </a:prstGeom>
          <a:solidFill>
            <a:srgbClr val="F3F1FA"/>
          </a:solidFill>
          <a:ln/>
        </p:spPr>
      </p:sp>
      <p:sp>
        <p:nvSpPr>
          <p:cNvPr id="7" name="Text 5"/>
          <p:cNvSpPr txBox="1"/>
          <p:nvPr/>
        </p:nvSpPr>
        <p:spPr>
          <a:xfrm>
            <a:off x="1280160" y="1307592"/>
            <a:ext cx="3200400" cy="329184"/>
          </a:xfrm>
          <a:prstGeom prst="rect">
            <a:avLst/>
          </a:prstGeom>
          <a:noFill/>
          <a:ln/>
        </p:spPr>
        <p:txBody>
          <a:bodyPr wrap="square" rtlCol="0" anchor="ctr"/>
          <a:lstStyle/>
          <a:p>
            <a:pPr indent="0" marL="0">
              <a:buNone/>
            </a:pPr>
            <a:r>
              <a:rPr lang="en-US" sz="1500" b="1" dirty="0">
                <a:solidFill>
                  <a:srgbClr val="1B1340"/>
                </a:solidFill>
              </a:rPr>
              <a:t>Oppgaveark</a:t>
            </a:r>
            <a:endParaRPr lang="en-US" sz="1500" dirty="0"/>
          </a:p>
        </p:txBody>
      </p:sp>
      <p:sp>
        <p:nvSpPr>
          <p:cNvPr id="8" name="Text 6"/>
          <p:cNvSpPr txBox="1"/>
          <p:nvPr/>
        </p:nvSpPr>
        <p:spPr>
          <a:xfrm>
            <a:off x="1280160" y="1609344"/>
            <a:ext cx="7040880" cy="320040"/>
          </a:xfrm>
          <a:prstGeom prst="rect">
            <a:avLst/>
          </a:prstGeom>
          <a:noFill/>
          <a:ln/>
        </p:spPr>
        <p:txBody>
          <a:bodyPr wrap="square" rtlCol="0" anchor="ctr"/>
          <a:lstStyle/>
          <a:p>
            <a:pPr indent="0" marL="0">
              <a:buNone/>
            </a:pPr>
            <a:r>
              <a:rPr lang="en-US" sz="1300" dirty="0">
                <a:solidFill>
                  <a:srgbClr val="8A84A8"/>
                </a:solidFill>
              </a:rPr>
              <a:t>Lærer – Oppgave nr. 5: Tivoli i byen</a:t>
            </a:r>
            <a:endParaRPr lang="en-US" sz="1300" dirty="0"/>
          </a:p>
        </p:txBody>
      </p:sp>
      <p:sp>
        <p:nvSpPr>
          <p:cNvPr id="9" name="Shape 7"/>
          <p:cNvSpPr/>
          <p:nvPr/>
        </p:nvSpPr>
        <p:spPr>
          <a:xfrm>
            <a:off x="548640" y="2148840"/>
            <a:ext cx="411480" cy="685800"/>
          </a:xfrm>
          <a:prstGeom prst="roundRect">
            <a:avLst>
              <a:gd name="adj" fmla="val 22222"/>
            </a:avLst>
          </a:prstGeom>
          <a:solidFill>
            <a:srgbClr val="3A6EA5"/>
          </a:solidFill>
          <a:ln/>
        </p:spPr>
      </p:sp>
      <p:sp>
        <p:nvSpPr>
          <p:cNvPr id="10" name="Text 8"/>
          <p:cNvSpPr txBox="1"/>
          <p:nvPr/>
        </p:nvSpPr>
        <p:spPr>
          <a:xfrm>
            <a:off x="548640" y="2148840"/>
            <a:ext cx="411480" cy="685800"/>
          </a:xfrm>
          <a:prstGeom prst="rect">
            <a:avLst/>
          </a:prstGeom>
          <a:noFill/>
          <a:ln/>
        </p:spPr>
        <p:txBody>
          <a:bodyPr wrap="square" rtlCol="0" anchor="ctr"/>
          <a:lstStyle/>
          <a:p>
            <a:pPr algn="ctr" indent="0" marL="0">
              <a:buNone/>
            </a:pPr>
            <a:r>
              <a:rPr lang="en-US" sz="1800" b="1" dirty="0">
                <a:solidFill>
                  <a:srgbClr val="FFFFFF"/>
                </a:solidFill>
              </a:rPr>
              <a:t>2</a:t>
            </a:r>
            <a:endParaRPr lang="en-US" sz="1800" dirty="0"/>
          </a:p>
        </p:txBody>
      </p:sp>
      <p:sp>
        <p:nvSpPr>
          <p:cNvPr id="11" name="Shape 9"/>
          <p:cNvSpPr/>
          <p:nvPr/>
        </p:nvSpPr>
        <p:spPr>
          <a:xfrm>
            <a:off x="1097280" y="2148840"/>
            <a:ext cx="7406640" cy="685800"/>
          </a:xfrm>
          <a:prstGeom prst="roundRect">
            <a:avLst>
              <a:gd name="adj" fmla="val 13333"/>
            </a:avLst>
          </a:prstGeom>
          <a:solidFill>
            <a:srgbClr val="F3F1FA"/>
          </a:solidFill>
          <a:ln/>
        </p:spPr>
      </p:sp>
      <p:sp>
        <p:nvSpPr>
          <p:cNvPr id="12" name="Text 10"/>
          <p:cNvSpPr txBox="1"/>
          <p:nvPr/>
        </p:nvSpPr>
        <p:spPr>
          <a:xfrm>
            <a:off x="1280160" y="2176272"/>
            <a:ext cx="3200400" cy="329184"/>
          </a:xfrm>
          <a:prstGeom prst="rect">
            <a:avLst/>
          </a:prstGeom>
          <a:noFill/>
          <a:ln/>
        </p:spPr>
        <p:txBody>
          <a:bodyPr wrap="square" rtlCol="0" anchor="ctr"/>
          <a:lstStyle/>
          <a:p>
            <a:pPr indent="0" marL="0">
              <a:buNone/>
            </a:pPr>
            <a:r>
              <a:rPr lang="en-US" sz="1500" b="1" dirty="0">
                <a:solidFill>
                  <a:srgbClr val="1B1340"/>
                </a:solidFill>
              </a:rPr>
              <a:t>Matematikkformel</a:t>
            </a:r>
            <a:endParaRPr lang="en-US" sz="1500" dirty="0"/>
          </a:p>
        </p:txBody>
      </p:sp>
      <p:sp>
        <p:nvSpPr>
          <p:cNvPr id="13" name="Text 11"/>
          <p:cNvSpPr txBox="1"/>
          <p:nvPr/>
        </p:nvSpPr>
        <p:spPr>
          <a:xfrm>
            <a:off x="1280160" y="2478024"/>
            <a:ext cx="7040880" cy="320040"/>
          </a:xfrm>
          <a:prstGeom prst="rect">
            <a:avLst/>
          </a:prstGeom>
          <a:noFill/>
          <a:ln/>
        </p:spPr>
        <p:txBody>
          <a:bodyPr wrap="square" rtlCol="0" anchor="ctr"/>
          <a:lstStyle/>
          <a:p>
            <a:pPr indent="0" marL="0">
              <a:buNone/>
            </a:pPr>
            <a:r>
              <a:rPr lang="en-US" sz="1300" dirty="0">
                <a:solidFill>
                  <a:srgbClr val="8A84A8"/>
                </a:solidFill>
              </a:rPr>
              <a:t>π (pi) ≈ 3,14159 – standard matematisk konstant</a:t>
            </a:r>
            <a:endParaRPr lang="en-US" sz="1300" dirty="0"/>
          </a:p>
        </p:txBody>
      </p:sp>
      <p:sp>
        <p:nvSpPr>
          <p:cNvPr id="14" name="Shape 12"/>
          <p:cNvSpPr/>
          <p:nvPr/>
        </p:nvSpPr>
        <p:spPr>
          <a:xfrm>
            <a:off x="548640" y="3017520"/>
            <a:ext cx="411480" cy="685800"/>
          </a:xfrm>
          <a:prstGeom prst="roundRect">
            <a:avLst>
              <a:gd name="adj" fmla="val 22222"/>
            </a:avLst>
          </a:prstGeom>
          <a:solidFill>
            <a:srgbClr val="2A9D8F"/>
          </a:solidFill>
          <a:ln/>
        </p:spPr>
      </p:sp>
      <p:sp>
        <p:nvSpPr>
          <p:cNvPr id="15" name="Text 13"/>
          <p:cNvSpPr txBox="1"/>
          <p:nvPr/>
        </p:nvSpPr>
        <p:spPr>
          <a:xfrm>
            <a:off x="548640" y="3017520"/>
            <a:ext cx="411480" cy="685800"/>
          </a:xfrm>
          <a:prstGeom prst="rect">
            <a:avLst/>
          </a:prstGeom>
          <a:noFill/>
          <a:ln/>
        </p:spPr>
        <p:txBody>
          <a:bodyPr wrap="square" rtlCol="0" anchor="ctr"/>
          <a:lstStyle/>
          <a:p>
            <a:pPr algn="ctr" indent="0" marL="0">
              <a:buNone/>
            </a:pPr>
            <a:r>
              <a:rPr lang="en-US" sz="1800" b="1" dirty="0">
                <a:solidFill>
                  <a:srgbClr val="FFFFFF"/>
                </a:solidFill>
              </a:rPr>
              <a:t>3</a:t>
            </a:r>
            <a:endParaRPr lang="en-US" sz="1800" dirty="0"/>
          </a:p>
        </p:txBody>
      </p:sp>
      <p:sp>
        <p:nvSpPr>
          <p:cNvPr id="16" name="Shape 14"/>
          <p:cNvSpPr/>
          <p:nvPr/>
        </p:nvSpPr>
        <p:spPr>
          <a:xfrm>
            <a:off x="1097280" y="3017520"/>
            <a:ext cx="7406640" cy="685800"/>
          </a:xfrm>
          <a:prstGeom prst="roundRect">
            <a:avLst>
              <a:gd name="adj" fmla="val 13333"/>
            </a:avLst>
          </a:prstGeom>
          <a:solidFill>
            <a:srgbClr val="F3F1FA"/>
          </a:solidFill>
          <a:ln/>
        </p:spPr>
      </p:sp>
      <p:sp>
        <p:nvSpPr>
          <p:cNvPr id="17" name="Text 15"/>
          <p:cNvSpPr txBox="1"/>
          <p:nvPr/>
        </p:nvSpPr>
        <p:spPr>
          <a:xfrm>
            <a:off x="1280160" y="3044952"/>
            <a:ext cx="3200400" cy="329184"/>
          </a:xfrm>
          <a:prstGeom prst="rect">
            <a:avLst/>
          </a:prstGeom>
          <a:noFill/>
          <a:ln/>
        </p:spPr>
        <p:txBody>
          <a:bodyPr wrap="square" rtlCol="0" anchor="ctr"/>
          <a:lstStyle/>
          <a:p>
            <a:pPr indent="0" marL="0">
              <a:buNone/>
            </a:pPr>
            <a:r>
              <a:rPr lang="en-US" sz="1500" b="1" dirty="0">
                <a:solidFill>
                  <a:srgbClr val="1B1340"/>
                </a:solidFill>
              </a:rPr>
              <a:t>Sannsynlighet</a:t>
            </a:r>
            <a:endParaRPr lang="en-US" sz="1500" dirty="0"/>
          </a:p>
        </p:txBody>
      </p:sp>
      <p:sp>
        <p:nvSpPr>
          <p:cNvPr id="18" name="Text 16"/>
          <p:cNvSpPr txBox="1"/>
          <p:nvPr/>
        </p:nvSpPr>
        <p:spPr>
          <a:xfrm>
            <a:off x="1280160" y="3346704"/>
            <a:ext cx="7040880" cy="320040"/>
          </a:xfrm>
          <a:prstGeom prst="rect">
            <a:avLst/>
          </a:prstGeom>
          <a:noFill/>
          <a:ln/>
        </p:spPr>
        <p:txBody>
          <a:bodyPr wrap="square" rtlCol="0" anchor="ctr"/>
          <a:lstStyle/>
          <a:p>
            <a:pPr indent="0" marL="0">
              <a:buNone/>
            </a:pPr>
            <a:r>
              <a:rPr lang="en-US" sz="1300" dirty="0">
                <a:solidFill>
                  <a:srgbClr val="8A84A8"/>
                </a:solidFill>
              </a:rPr>
              <a:t>Formel: P = gunstige utfall / mulige utfall (lærebok)</a:t>
            </a:r>
            <a:endParaRPr lang="en-US" sz="1300" dirty="0"/>
          </a:p>
        </p:txBody>
      </p:sp>
      <p:sp>
        <p:nvSpPr>
          <p:cNvPr id="19" name="Shape 17"/>
          <p:cNvSpPr/>
          <p:nvPr/>
        </p:nvSpPr>
        <p:spPr>
          <a:xfrm>
            <a:off x="548640" y="3886200"/>
            <a:ext cx="411480" cy="685800"/>
          </a:xfrm>
          <a:prstGeom prst="roundRect">
            <a:avLst>
              <a:gd name="adj" fmla="val 22222"/>
            </a:avLst>
          </a:prstGeom>
          <a:solidFill>
            <a:srgbClr val="F77F00"/>
          </a:solidFill>
          <a:ln/>
        </p:spPr>
      </p:sp>
      <p:sp>
        <p:nvSpPr>
          <p:cNvPr id="20" name="Text 18"/>
          <p:cNvSpPr txBox="1"/>
          <p:nvPr/>
        </p:nvSpPr>
        <p:spPr>
          <a:xfrm>
            <a:off x="548640" y="3886200"/>
            <a:ext cx="411480" cy="685800"/>
          </a:xfrm>
          <a:prstGeom prst="rect">
            <a:avLst/>
          </a:prstGeom>
          <a:noFill/>
          <a:ln/>
        </p:spPr>
        <p:txBody>
          <a:bodyPr wrap="square" rtlCol="0" anchor="ctr"/>
          <a:lstStyle/>
          <a:p>
            <a:pPr algn="ctr" indent="0" marL="0">
              <a:buNone/>
            </a:pPr>
            <a:r>
              <a:rPr lang="en-US" sz="1800" b="1" dirty="0">
                <a:solidFill>
                  <a:srgbClr val="FFFFFF"/>
                </a:solidFill>
              </a:rPr>
              <a:t>4</a:t>
            </a:r>
            <a:endParaRPr lang="en-US" sz="1800" dirty="0"/>
          </a:p>
        </p:txBody>
      </p:sp>
      <p:sp>
        <p:nvSpPr>
          <p:cNvPr id="21" name="Shape 19"/>
          <p:cNvSpPr/>
          <p:nvPr/>
        </p:nvSpPr>
        <p:spPr>
          <a:xfrm>
            <a:off x="1097280" y="3886200"/>
            <a:ext cx="7406640" cy="685800"/>
          </a:xfrm>
          <a:prstGeom prst="roundRect">
            <a:avLst>
              <a:gd name="adj" fmla="val 13333"/>
            </a:avLst>
          </a:prstGeom>
          <a:solidFill>
            <a:srgbClr val="F3F1FA"/>
          </a:solidFill>
          <a:ln/>
        </p:spPr>
      </p:sp>
      <p:sp>
        <p:nvSpPr>
          <p:cNvPr id="22" name="Text 20"/>
          <p:cNvSpPr txBox="1"/>
          <p:nvPr/>
        </p:nvSpPr>
        <p:spPr>
          <a:xfrm>
            <a:off x="1280160" y="3913632"/>
            <a:ext cx="3200400" cy="329184"/>
          </a:xfrm>
          <a:prstGeom prst="rect">
            <a:avLst/>
          </a:prstGeom>
          <a:noFill/>
          <a:ln/>
        </p:spPr>
        <p:txBody>
          <a:bodyPr wrap="square" rtlCol="0" anchor="ctr"/>
          <a:lstStyle/>
          <a:p>
            <a:pPr indent="0" marL="0">
              <a:buNone/>
            </a:pPr>
            <a:r>
              <a:rPr lang="en-US" sz="1500" b="1" dirty="0">
                <a:solidFill>
                  <a:srgbClr val="1B1340"/>
                </a:solidFill>
              </a:rPr>
              <a:t>Geometri</a:t>
            </a:r>
            <a:endParaRPr lang="en-US" sz="1500" dirty="0"/>
          </a:p>
        </p:txBody>
      </p:sp>
      <p:sp>
        <p:nvSpPr>
          <p:cNvPr id="23" name="Text 21"/>
          <p:cNvSpPr txBox="1"/>
          <p:nvPr/>
        </p:nvSpPr>
        <p:spPr>
          <a:xfrm>
            <a:off x="1280160" y="4215384"/>
            <a:ext cx="7040880" cy="320040"/>
          </a:xfrm>
          <a:prstGeom prst="rect">
            <a:avLst/>
          </a:prstGeom>
          <a:noFill/>
          <a:ln/>
        </p:spPr>
        <p:txBody>
          <a:bodyPr wrap="square" rtlCol="0" anchor="ctr"/>
          <a:lstStyle/>
          <a:p>
            <a:pPr indent="0" marL="0">
              <a:buNone/>
            </a:pPr>
            <a:r>
              <a:rPr lang="en-US" sz="1300" dirty="0">
                <a:solidFill>
                  <a:srgbClr val="8A84A8"/>
                </a:solidFill>
              </a:rPr>
              <a:t>Formel: Omkrets sirkel = π × d (lærebok)</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4A8"/>
                </a:solidFill>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Tivoli">
  <a:themeElements>
    <a:clrScheme name="Tivoli">
      <a:dk1>
        <a:srgbClr val="1B1340"/>
      </a:dk1>
      <a:lt1>
        <a:srgbClr val="FFFFFF"/>
      </a:lt1>
      <a:dk2>
        <a:srgbClr val="2A1F5C"/>
      </a:dk2>
      <a:lt2>
        <a:srgbClr val="F3F1FA"/>
      </a:lt2>
      <a:accent1>
        <a:srgbClr val="E63946"/>
      </a:accent1>
      <a:accent2>
        <a:srgbClr val="F4B400"/>
      </a:accent2>
      <a:accent3>
        <a:srgbClr val="2A9D8F"/>
      </a:accent3>
      <a:accent4>
        <a:srgbClr val="3A6EA5"/>
      </a:accent4>
      <a:accent5>
        <a:srgbClr val="8E44AD"/>
      </a:accent5>
      <a:accent6>
        <a:srgbClr val="F77F00"/>
      </a:accent6>
      <a:hlink>
        <a:srgbClr val="3A6EA5"/>
      </a:hlink>
      <a:folHlink>
        <a:srgbClr val="8E44AD"/>
      </a:folHlink>
    </a:clrScheme>
    <a:fontScheme name="Tivol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Matematikk</dc:title>
  <dc:subject>PptxGenJS Presentation</dc:subject>
  <dc:creator>Lucas Steen Jacobsen</dc:creator>
  <cp:lastModifiedBy>Lucas Steen Jacobsen</cp:lastModifiedBy>
  <cp:revision>1</cp:revision>
  <dcterms:created xsi:type="dcterms:W3CDTF">2026-10-29T15:32:24Z</dcterms:created>
  <dcterms:modified xsi:type="dcterms:W3CDTF">2026-10-29T15:32:24Z</dcterms:modified>
</cp:coreProperties>
</file>